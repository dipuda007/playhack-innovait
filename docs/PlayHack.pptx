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7.png"/><Relationship Id="rId4" Type="http://schemas.openxmlformats.org/officeDocument/2006/relationships/image" Target="../media/image8.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220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deck-title-bg.png"/>
          <p:cNvPicPr>
            <a:picLocks noChangeAspect="1"/>
          </p:cNvPicPr>
          <p:nvPr/>
        </p:nvPicPr>
        <p:blipFill>
          <a:blip r:embed="rId2"/>
          <a:stretch>
            <a:fillRect/>
          </a:stretch>
        </p:blipFill>
        <p:spPr>
          <a:xfrm>
            <a:off x="0" y="0"/>
            <a:ext cx="12191695" cy="6858000"/>
          </a:xfrm>
          <a:prstGeom prst="rect">
            <a:avLst/>
          </a:prstGeom>
        </p:spPr>
      </p:pic>
      <p:sp>
        <p:nvSpPr>
          <p:cNvPr id="4" name="TextBox 3"/>
          <p:cNvSpPr txBox="1"/>
          <p:nvPr/>
        </p:nvSpPr>
        <p:spPr>
          <a:xfrm>
            <a:off x="658368" y="3703320"/>
            <a:ext cx="10874959" cy="274320"/>
          </a:xfrm>
          <a:prstGeom prst="rect">
            <a:avLst/>
          </a:prstGeom>
          <a:noFill/>
        </p:spPr>
        <p:txBody>
          <a:bodyPr wrap="square" lIns="0" rIns="0" tIns="0" bIns="0">
            <a:spAutoFit/>
          </a:bodyPr>
          <a:lstStyle/>
          <a:p>
            <a:pPr algn="l">
              <a:lnSpc>
                <a:spcPct val="125000"/>
              </a:lnSpc>
              <a:spcAft>
                <a:spcPts val="600"/>
              </a:spcAft>
            </a:pPr>
            <a:r>
              <a:rPr sz="1300" b="1">
                <a:solidFill>
                  <a:srgbClr val="E0A267"/>
                </a:solidFill>
                <a:latin typeface="Arial"/>
              </a:rPr>
              <a:t>PLAYHACK · SDE TRACK · IIT GUWAHATI</a:t>
            </a:r>
          </a:p>
        </p:txBody>
      </p:sp>
      <p:sp>
        <p:nvSpPr>
          <p:cNvPr id="5" name="TextBox 4"/>
          <p:cNvSpPr txBox="1"/>
          <p:nvPr/>
        </p:nvSpPr>
        <p:spPr>
          <a:xfrm>
            <a:off x="658368" y="4069080"/>
            <a:ext cx="10874959" cy="1005840"/>
          </a:xfrm>
          <a:prstGeom prst="rect">
            <a:avLst/>
          </a:prstGeom>
          <a:noFill/>
        </p:spPr>
        <p:txBody>
          <a:bodyPr wrap="square" lIns="0" rIns="0" tIns="0" bIns="0">
            <a:spAutoFit/>
          </a:bodyPr>
          <a:lstStyle/>
          <a:p>
            <a:pPr algn="l">
              <a:lnSpc>
                <a:spcPct val="125000"/>
              </a:lnSpc>
              <a:spcAft>
                <a:spcPts val="600"/>
              </a:spcAft>
            </a:pPr>
            <a:r>
              <a:rPr sz="5400" b="1">
                <a:solidFill>
                  <a:srgbClr val="F7F4EE"/>
                </a:solidFill>
                <a:latin typeface="Georgia"/>
              </a:rPr>
              <a:t>PLAYHACK</a:t>
            </a:r>
          </a:p>
        </p:txBody>
      </p:sp>
      <p:sp>
        <p:nvSpPr>
          <p:cNvPr id="6" name="TextBox 5"/>
          <p:cNvSpPr txBox="1"/>
          <p:nvPr/>
        </p:nvSpPr>
        <p:spPr>
          <a:xfrm>
            <a:off x="658368" y="5074920"/>
            <a:ext cx="7498079" cy="914400"/>
          </a:xfrm>
          <a:prstGeom prst="rect">
            <a:avLst/>
          </a:prstGeom>
          <a:noFill/>
        </p:spPr>
        <p:txBody>
          <a:bodyPr wrap="square" lIns="0" rIns="0" tIns="0" bIns="0">
            <a:spAutoFit/>
          </a:bodyPr>
          <a:lstStyle/>
          <a:p>
            <a:pPr algn="l">
              <a:lnSpc>
                <a:spcPct val="135000"/>
              </a:lnSpc>
              <a:spcAft>
                <a:spcPts val="600"/>
              </a:spcAft>
            </a:pPr>
            <a:r>
              <a:rPr sz="1800" b="0">
                <a:solidFill>
                  <a:srgbClr val="E8E3DA"/>
                </a:solidFill>
                <a:latin typeface="Arial"/>
              </a:rPr>
              <a:t>Campus sports facility booking where the winner of a race for one court is decided by Postgres, not by our code.</a:t>
            </a:r>
          </a:p>
        </p:txBody>
      </p:sp>
      <p:sp>
        <p:nvSpPr>
          <p:cNvPr id="7" name="TextBox 6"/>
          <p:cNvSpPr txBox="1"/>
          <p:nvPr/>
        </p:nvSpPr>
        <p:spPr>
          <a:xfrm>
            <a:off x="658368" y="6144768"/>
            <a:ext cx="10874959" cy="274320"/>
          </a:xfrm>
          <a:prstGeom prst="rect">
            <a:avLst/>
          </a:prstGeom>
          <a:noFill/>
        </p:spPr>
        <p:txBody>
          <a:bodyPr wrap="square" lIns="0" rIns="0" tIns="0" bIns="0">
            <a:spAutoFit/>
          </a:bodyPr>
          <a:lstStyle/>
          <a:p>
            <a:pPr algn="l">
              <a:lnSpc>
                <a:spcPct val="125000"/>
              </a:lnSpc>
              <a:spcAft>
                <a:spcPts val="600"/>
              </a:spcAft>
            </a:pPr>
            <a:r>
              <a:rPr sz="1200" b="0">
                <a:solidFill>
                  <a:srgbClr val="B8B0A4"/>
                </a:solidFill>
                <a:latin typeface="Arial"/>
              </a:rPr>
              <a:t>TEAM INNOVAIT     ·     INNOVAIT-HACKATHON.VERCEL.APP     ·     0 OVERLAPPING BOOKINGS, EVER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74320"/>
          </a:xfrm>
          <a:prstGeom prst="rect">
            <a:avLst/>
          </a:prstGeom>
          <a:noFill/>
        </p:spPr>
        <p:txBody>
          <a:bodyPr wrap="square" lIns="0" rIns="0" tIns="0" bIns="0">
            <a:spAutoFit/>
          </a:bodyPr>
          <a:lstStyle/>
          <a:p>
            <a:pPr algn="l">
              <a:lnSpc>
                <a:spcPct val="125000"/>
              </a:lnSpc>
              <a:spcAft>
                <a:spcPts val="600"/>
              </a:spcAft>
            </a:pPr>
            <a:r>
              <a:rPr sz="1200" b="1">
                <a:solidFill>
                  <a:srgbClr val="B4512A"/>
                </a:solidFill>
                <a:latin typeface="Arial"/>
              </a:rPr>
              <a:t>THE PROBLEM, IN THE BRIEF'S OWN WORDS</a:t>
            </a:r>
          </a:p>
        </p:txBody>
      </p:sp>
      <p:sp>
        <p:nvSpPr>
          <p:cNvPr id="4" name="TextBox 3"/>
          <p:cNvSpPr txBox="1"/>
          <p:nvPr/>
        </p:nvSpPr>
        <p:spPr>
          <a:xfrm>
            <a:off x="658368" y="786384"/>
            <a:ext cx="10874959" cy="914400"/>
          </a:xfrm>
          <a:prstGeom prst="rect">
            <a:avLst/>
          </a:prstGeom>
          <a:noFill/>
        </p:spPr>
        <p:txBody>
          <a:bodyPr wrap="square" lIns="0" rIns="0" tIns="0" bIns="0">
            <a:spAutoFit/>
          </a:bodyPr>
          <a:lstStyle/>
          <a:p>
            <a:pPr algn="l">
              <a:lnSpc>
                <a:spcPct val="102000"/>
              </a:lnSpc>
              <a:spcAft>
                <a:spcPts val="600"/>
              </a:spcAft>
            </a:pPr>
            <a:r>
              <a:rPr sz="3400" b="1">
                <a:solidFill>
                  <a:srgbClr val="22201E"/>
                </a:solidFill>
                <a:latin typeface="Georgia"/>
              </a:rPr>
              <a:t>AT 6 PM, FIFTY STUDENTS
WANT THE SAME COURT</a:t>
            </a:r>
          </a:p>
        </p:txBody>
      </p:sp>
      <p:sp>
        <p:nvSpPr>
          <p:cNvPr id="5" name="Rectangle 4"/>
          <p:cNvSpPr/>
          <p:nvPr/>
        </p:nvSpPr>
        <p:spPr>
          <a:xfrm>
            <a:off x="658368" y="1572768"/>
            <a:ext cx="822960" cy="38100"/>
          </a:xfrm>
          <a:prstGeom prst="rect">
            <a:avLst/>
          </a:prstGeom>
          <a:solidFill>
            <a:srgbClr val="C29A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291072"/>
            <a:ext cx="10326319" cy="274320"/>
          </a:xfrm>
          <a:prstGeom prst="rect">
            <a:avLst/>
          </a:prstGeom>
          <a:noFill/>
        </p:spPr>
        <p:txBody>
          <a:bodyPr wrap="square" lIns="0" rIns="0" tIns="0" bIns="0">
            <a:spAutoFit/>
          </a:bodyPr>
          <a:lstStyle/>
          <a:p>
            <a:pPr algn="l">
              <a:lnSpc>
                <a:spcPct val="125000"/>
              </a:lnSpc>
              <a:spcAft>
                <a:spcPts val="600"/>
              </a:spcAft>
            </a:pPr>
            <a:r>
              <a:rPr sz="1000" b="0">
                <a:solidFill>
                  <a:srgbClr val="837C73"/>
                </a:solidFill>
                <a:latin typeface="Arial"/>
              </a:rPr>
              <a:t>PLAYHACK · TEAM INNOVAIT</a:t>
            </a:r>
          </a:p>
        </p:txBody>
      </p:sp>
      <p:sp>
        <p:nvSpPr>
          <p:cNvPr id="7" name="TextBox 6"/>
          <p:cNvSpPr txBox="1"/>
          <p:nvPr/>
        </p:nvSpPr>
        <p:spPr>
          <a:xfrm>
            <a:off x="10984687" y="6291072"/>
            <a:ext cx="548640" cy="274320"/>
          </a:xfrm>
          <a:prstGeom prst="rect">
            <a:avLst/>
          </a:prstGeom>
          <a:noFill/>
        </p:spPr>
        <p:txBody>
          <a:bodyPr wrap="square" lIns="0" rIns="0" tIns="0" bIns="0">
            <a:spAutoFit/>
          </a:bodyPr>
          <a:lstStyle/>
          <a:p>
            <a:pPr algn="r">
              <a:lnSpc>
                <a:spcPct val="125000"/>
              </a:lnSpc>
              <a:spcAft>
                <a:spcPts val="600"/>
              </a:spcAft>
            </a:pPr>
            <a:r>
              <a:rPr sz="1000" b="0">
                <a:solidFill>
                  <a:srgbClr val="837C73"/>
                </a:solidFill>
                <a:latin typeface="Arial"/>
              </a:rPr>
              <a:t>02</a:t>
            </a:r>
          </a:p>
        </p:txBody>
      </p:sp>
      <p:sp>
        <p:nvSpPr>
          <p:cNvPr id="8" name="TextBox 7"/>
          <p:cNvSpPr txBox="1"/>
          <p:nvPr/>
        </p:nvSpPr>
        <p:spPr>
          <a:xfrm>
            <a:off x="658368" y="2148840"/>
            <a:ext cx="5029200" cy="2194560"/>
          </a:xfrm>
          <a:prstGeom prst="rect">
            <a:avLst/>
          </a:prstGeom>
          <a:noFill/>
        </p:spPr>
        <p:txBody>
          <a:bodyPr wrap="square" lIns="0" rIns="0" tIns="0" bIns="0">
            <a:spAutoFit/>
          </a:bodyPr>
          <a:lstStyle/>
          <a:p>
            <a:pPr algn="l">
              <a:lnSpc>
                <a:spcPct val="140000"/>
              </a:lnSpc>
              <a:spcAft>
                <a:spcPts val="1400"/>
              </a:spcAft>
            </a:pPr>
            <a:r>
              <a:rPr sz="1700" b="0">
                <a:solidFill>
                  <a:srgbClr val="55504A"/>
                </a:solidFill>
                <a:latin typeface="Arial"/>
              </a:rPr>
              <a:t>"The system must confirm </a:t>
            </a:r>
            <a:r>
              <a:rPr sz="1700" b="1">
                <a:solidFill>
                  <a:srgbClr val="22201E"/>
                </a:solidFill>
                <a:latin typeface="Arial"/>
              </a:rPr>
              <a:t>exactly one</a:t>
            </a:r>
            <a:r>
              <a:rPr sz="1700" b="0">
                <a:solidFill>
                  <a:srgbClr val="55504A"/>
                </a:solidFill>
                <a:latin typeface="Arial"/>
              </a:rPr>
              <a:t> and reject the rest, without corrupting data."</a:t>
            </a:r>
          </a:p>
          <a:p>
            <a:pPr algn="l">
              <a:lnSpc>
                <a:spcPct val="140000"/>
              </a:lnSpc>
              <a:spcAft>
                <a:spcPts val="1400"/>
              </a:spcAft>
            </a:pPr>
            <a:r>
              <a:rPr sz="1700" b="0">
                <a:solidFill>
                  <a:srgbClr val="55504A"/>
                </a:solidFill>
                <a:latin typeface="Arial"/>
              </a:rPr>
              <a:t>Almost every booking system answers this the same way — and almost every one of them is wrong.</a:t>
            </a:r>
          </a:p>
        </p:txBody>
      </p:sp>
      <p:sp>
        <p:nvSpPr>
          <p:cNvPr id="9" name="Rectangle 8"/>
          <p:cNvSpPr/>
          <p:nvPr/>
        </p:nvSpPr>
        <p:spPr>
          <a:xfrm>
            <a:off x="6309360" y="2148840"/>
            <a:ext cx="5212080" cy="1600200"/>
          </a:xfrm>
          <a:prstGeom prst="rect">
            <a:avLst/>
          </a:prstGeom>
          <a:solidFill>
            <a:srgbClr val="F2EEE6"/>
          </a:solidFill>
          <a:ln w="15875">
            <a:solidFill>
              <a:srgbClr val="22201E"/>
            </a:solidFill>
          </a:ln>
          <a:effectLst/>
        </p:spPr>
        <p:style>
          <a:lnRef idx="1">
            <a:schemeClr val="accent1"/>
          </a:lnRef>
          <a:fillRef idx="3">
            <a:schemeClr val="accent1"/>
          </a:fillRef>
          <a:effectRef idx="2">
            <a:schemeClr val="accent1"/>
          </a:effectRef>
          <a:fontRef idx="minor">
            <a:schemeClr val="lt1"/>
          </a:fontRef>
        </p:style>
        <p:txBody>
          <a:bodyPr rtlCol="0" anchor="ctr" lIns="201168" rIns="201168" tIns="146304" bIns="146304" wrap="none"/>
          <a:lstStyle/>
          <a:p>
            <a:pPr algn="ctr">
              <a:lnSpc>
                <a:spcPct val="140000"/>
              </a:lnSpc>
            </a:pPr>
            <a:r>
              <a:rPr sz="1200" b="0">
                <a:solidFill>
                  <a:srgbClr val="837C73"/>
                </a:solidFill>
                <a:latin typeface="Consolas"/>
              </a:rPr>
              <a:t>// the question</a:t>
            </a:r>
          </a:p>
          <a:p>
            <a:pPr>
              <a:lnSpc>
                <a:spcPct val="140000"/>
              </a:lnSpc>
            </a:pPr>
            <a:r>
              <a:rPr sz="1200" b="0">
                <a:solidFill>
                  <a:srgbClr val="55504A"/>
                </a:solidFill>
                <a:latin typeface="Consolas"/>
              </a:rPr>
              <a:t>const taken = await isSlotTaken(court, slot);</a:t>
            </a:r>
          </a:p>
          <a:p>
            <a:pPr>
              <a:lnSpc>
                <a:spcPct val="140000"/>
              </a:lnSpc>
            </a:pPr>
            <a:r>
              <a:rPr sz="1200" b="0">
                <a:solidFill>
                  <a:srgbClr val="55504A"/>
                </a:solidFill>
                <a:latin typeface="Consolas"/>
              </a:rPr>
              <a:t/>
            </a:r>
          </a:p>
          <a:p>
            <a:pPr>
              <a:lnSpc>
                <a:spcPct val="140000"/>
              </a:lnSpc>
            </a:pPr>
            <a:r>
              <a:rPr sz="1200" b="0">
                <a:solidFill>
                  <a:srgbClr val="837C73"/>
                </a:solidFill>
                <a:latin typeface="Consolas"/>
              </a:rPr>
              <a:t>// the answer</a:t>
            </a:r>
          </a:p>
          <a:p>
            <a:pPr>
              <a:lnSpc>
                <a:spcPct val="140000"/>
              </a:lnSpc>
            </a:pPr>
            <a:r>
              <a:rPr sz="1200" b="0">
                <a:solidFill>
                  <a:srgbClr val="55504A"/>
                </a:solidFill>
                <a:latin typeface="Consolas"/>
              </a:rPr>
              <a:t>if (!taken) await insertBooking(court, slot);</a:t>
            </a:r>
          </a:p>
        </p:txBody>
      </p:sp>
      <p:sp>
        <p:nvSpPr>
          <p:cNvPr id="10" name="TextBox 9"/>
          <p:cNvSpPr txBox="1"/>
          <p:nvPr/>
        </p:nvSpPr>
        <p:spPr>
          <a:xfrm>
            <a:off x="6309360" y="3931920"/>
            <a:ext cx="5212080" cy="914400"/>
          </a:xfrm>
          <a:prstGeom prst="rect">
            <a:avLst/>
          </a:prstGeom>
          <a:noFill/>
        </p:spPr>
        <p:txBody>
          <a:bodyPr wrap="square" lIns="0" rIns="0" tIns="0" bIns="0">
            <a:spAutoFit/>
          </a:bodyPr>
          <a:lstStyle/>
          <a:p>
            <a:pPr algn="l">
              <a:lnSpc>
                <a:spcPct val="135000"/>
              </a:lnSpc>
              <a:spcAft>
                <a:spcPts val="600"/>
              </a:spcAft>
            </a:pPr>
            <a:r>
              <a:rPr sz="1500" b="0">
                <a:solidFill>
                  <a:srgbClr val="55504A"/>
                </a:solidFill>
                <a:latin typeface="Arial"/>
              </a:rPr>
              <a:t>Both lines are individually correct. Between them is a </a:t>
            </a:r>
            <a:r>
              <a:rPr sz="1500" b="1">
                <a:solidFill>
                  <a:srgbClr val="22201E"/>
                </a:solidFill>
                <a:latin typeface="Arial"/>
              </a:rPr>
              <a:t>gap</a:t>
            </a:r>
            <a:r>
              <a:rPr sz="1500" b="0">
                <a:solidFill>
                  <a:srgbClr val="55504A"/>
                </a:solidFill>
                <a:latin typeface="Arial"/>
              </a:rPr>
              <a:t> — and under load another request commits inside it.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74320"/>
          </a:xfrm>
          <a:prstGeom prst="rect">
            <a:avLst/>
          </a:prstGeom>
          <a:noFill/>
        </p:spPr>
        <p:txBody>
          <a:bodyPr wrap="square" lIns="0" rIns="0" tIns="0" bIns="0">
            <a:spAutoFit/>
          </a:bodyPr>
          <a:lstStyle/>
          <a:p>
            <a:pPr algn="l">
              <a:lnSpc>
                <a:spcPct val="125000"/>
              </a:lnSpc>
              <a:spcAft>
                <a:spcPts val="600"/>
              </a:spcAft>
            </a:pPr>
            <a:r>
              <a:rPr sz="1200" b="1">
                <a:solidFill>
                  <a:srgbClr val="B4512A"/>
                </a:solidFill>
                <a:latin typeface="Arial"/>
              </a:rPr>
              <a:t>THE ANSWER</a:t>
            </a:r>
          </a:p>
        </p:txBody>
      </p:sp>
      <p:sp>
        <p:nvSpPr>
          <p:cNvPr id="4" name="TextBox 3"/>
          <p:cNvSpPr txBox="1"/>
          <p:nvPr/>
        </p:nvSpPr>
        <p:spPr>
          <a:xfrm>
            <a:off x="658368" y="786384"/>
            <a:ext cx="10874959" cy="914400"/>
          </a:xfrm>
          <a:prstGeom prst="rect">
            <a:avLst/>
          </a:prstGeom>
          <a:noFill/>
        </p:spPr>
        <p:txBody>
          <a:bodyPr wrap="square" lIns="0" rIns="0" tIns="0" bIns="0">
            <a:spAutoFit/>
          </a:bodyPr>
          <a:lstStyle/>
          <a:p>
            <a:pPr algn="l">
              <a:lnSpc>
                <a:spcPct val="102000"/>
              </a:lnSpc>
              <a:spcAft>
                <a:spcPts val="600"/>
              </a:spcAft>
            </a:pPr>
            <a:r>
              <a:rPr sz="3400" b="1">
                <a:solidFill>
                  <a:srgbClr val="22201E"/>
                </a:solidFill>
                <a:latin typeface="Georgia"/>
              </a:rPr>
              <a:t>THE WRITE IS THE DECISION</a:t>
            </a:r>
          </a:p>
        </p:txBody>
      </p:sp>
      <p:sp>
        <p:nvSpPr>
          <p:cNvPr id="5" name="Rectangle 4"/>
          <p:cNvSpPr/>
          <p:nvPr/>
        </p:nvSpPr>
        <p:spPr>
          <a:xfrm>
            <a:off x="658368" y="1572768"/>
            <a:ext cx="822960" cy="38100"/>
          </a:xfrm>
          <a:prstGeom prst="rect">
            <a:avLst/>
          </a:prstGeom>
          <a:solidFill>
            <a:srgbClr val="C29A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291072"/>
            <a:ext cx="10326319" cy="274320"/>
          </a:xfrm>
          <a:prstGeom prst="rect">
            <a:avLst/>
          </a:prstGeom>
          <a:noFill/>
        </p:spPr>
        <p:txBody>
          <a:bodyPr wrap="square" lIns="0" rIns="0" tIns="0" bIns="0">
            <a:spAutoFit/>
          </a:bodyPr>
          <a:lstStyle/>
          <a:p>
            <a:pPr algn="l">
              <a:lnSpc>
                <a:spcPct val="125000"/>
              </a:lnSpc>
              <a:spcAft>
                <a:spcPts val="600"/>
              </a:spcAft>
            </a:pPr>
            <a:r>
              <a:rPr sz="1000" b="0">
                <a:solidFill>
                  <a:srgbClr val="837C73"/>
                </a:solidFill>
                <a:latin typeface="Arial"/>
              </a:rPr>
              <a:t>PLAYHACK · TEAM INNOVAIT</a:t>
            </a:r>
          </a:p>
        </p:txBody>
      </p:sp>
      <p:sp>
        <p:nvSpPr>
          <p:cNvPr id="7" name="TextBox 6"/>
          <p:cNvSpPr txBox="1"/>
          <p:nvPr/>
        </p:nvSpPr>
        <p:spPr>
          <a:xfrm>
            <a:off x="10984687" y="6291072"/>
            <a:ext cx="548640" cy="274320"/>
          </a:xfrm>
          <a:prstGeom prst="rect">
            <a:avLst/>
          </a:prstGeom>
          <a:noFill/>
        </p:spPr>
        <p:txBody>
          <a:bodyPr wrap="square" lIns="0" rIns="0" tIns="0" bIns="0">
            <a:spAutoFit/>
          </a:bodyPr>
          <a:lstStyle/>
          <a:p>
            <a:pPr algn="r">
              <a:lnSpc>
                <a:spcPct val="125000"/>
              </a:lnSpc>
              <a:spcAft>
                <a:spcPts val="600"/>
              </a:spcAft>
            </a:pPr>
            <a:r>
              <a:rPr sz="1000" b="0">
                <a:solidFill>
                  <a:srgbClr val="837C73"/>
                </a:solidFill>
                <a:latin typeface="Arial"/>
              </a:rPr>
              <a:t>03</a:t>
            </a:r>
          </a:p>
        </p:txBody>
      </p:sp>
      <p:sp>
        <p:nvSpPr>
          <p:cNvPr id="8" name="Rectangle 7"/>
          <p:cNvSpPr/>
          <p:nvPr/>
        </p:nvSpPr>
        <p:spPr>
          <a:xfrm>
            <a:off x="658368" y="2103120"/>
            <a:ext cx="10874959" cy="1463040"/>
          </a:xfrm>
          <a:prstGeom prst="rect">
            <a:avLst/>
          </a:prstGeom>
          <a:solidFill>
            <a:srgbClr val="F2EEE6"/>
          </a:solidFill>
          <a:ln w="15875">
            <a:solidFill>
              <a:srgbClr val="22201E"/>
            </a:solidFill>
          </a:ln>
          <a:effectLst/>
        </p:spPr>
        <p:style>
          <a:lnRef idx="1">
            <a:schemeClr val="accent1"/>
          </a:lnRef>
          <a:fillRef idx="3">
            <a:schemeClr val="accent1"/>
          </a:fillRef>
          <a:effectRef idx="2">
            <a:schemeClr val="accent1"/>
          </a:effectRef>
          <a:fontRef idx="minor">
            <a:schemeClr val="lt1"/>
          </a:fontRef>
        </p:style>
        <p:txBody>
          <a:bodyPr rtlCol="0" anchor="ctr" lIns="201168" rIns="201168" tIns="146304" bIns="146304" wrap="none"/>
          <a:lstStyle/>
          <a:p>
            <a:pPr algn="ctr">
              <a:lnSpc>
                <a:spcPct val="140000"/>
              </a:lnSpc>
            </a:pPr>
            <a:r>
              <a:rPr sz="1500" b="0">
                <a:solidFill>
                  <a:srgbClr val="55504A"/>
                </a:solidFill>
                <a:latin typeface="Consolas"/>
              </a:rPr>
              <a:t>ALTER TABLE bookings ADD CONSTRAINT bookings_no_overlap</a:t>
            </a:r>
          </a:p>
          <a:p>
            <a:pPr>
              <a:lnSpc>
                <a:spcPct val="140000"/>
              </a:lnSpc>
            </a:pPr>
            <a:r>
              <a:rPr sz="1500" b="1">
                <a:solidFill>
                  <a:srgbClr val="B4512A"/>
                </a:solidFill>
                <a:latin typeface="Consolas"/>
              </a:rPr>
              <a:t>  EXCLUDE USING gist (</a:t>
            </a:r>
            <a:r>
              <a:rPr sz="1500" b="0">
                <a:solidFill>
                  <a:srgbClr val="55504A"/>
                </a:solidFill>
                <a:latin typeface="Consolas"/>
              </a:rPr>
              <a:t>facility_id </a:t>
            </a:r>
            <a:r>
              <a:rPr sz="1500" b="1">
                <a:solidFill>
                  <a:srgbClr val="B4512A"/>
                </a:solidFill>
                <a:latin typeface="Consolas"/>
              </a:rPr>
              <a:t>WITH =</a:t>
            </a:r>
            <a:r>
              <a:rPr sz="1500" b="0">
                <a:solidFill>
                  <a:srgbClr val="55504A"/>
                </a:solidFill>
                <a:latin typeface="Consolas"/>
              </a:rPr>
              <a:t>, during </a:t>
            </a:r>
            <a:r>
              <a:rPr sz="1500" b="1">
                <a:solidFill>
                  <a:srgbClr val="B4512A"/>
                </a:solidFill>
                <a:latin typeface="Consolas"/>
              </a:rPr>
              <a:t>WITH &amp;&amp;</a:t>
            </a:r>
            <a:r>
              <a:rPr sz="1500" b="1">
                <a:solidFill>
                  <a:srgbClr val="B4512A"/>
                </a:solidFill>
                <a:latin typeface="Consolas"/>
              </a:rPr>
              <a:t>)</a:t>
            </a:r>
          </a:p>
          <a:p>
            <a:pPr>
              <a:lnSpc>
                <a:spcPct val="140000"/>
              </a:lnSpc>
            </a:pPr>
            <a:r>
              <a:rPr sz="1500" b="0">
                <a:solidFill>
                  <a:srgbClr val="55504A"/>
                </a:solidFill>
                <a:latin typeface="Consolas"/>
              </a:rPr>
              <a:t>  WHERE (status = 'confirmed');</a:t>
            </a:r>
          </a:p>
        </p:txBody>
      </p:sp>
      <p:sp>
        <p:nvSpPr>
          <p:cNvPr id="9" name="TextBox 8"/>
          <p:cNvSpPr txBox="1"/>
          <p:nvPr/>
        </p:nvSpPr>
        <p:spPr>
          <a:xfrm>
            <a:off x="658368" y="3840480"/>
            <a:ext cx="10874959" cy="1828800"/>
          </a:xfrm>
          <a:prstGeom prst="rect">
            <a:avLst/>
          </a:prstGeom>
          <a:noFill/>
        </p:spPr>
        <p:txBody>
          <a:bodyPr wrap="square" lIns="0" rIns="0" tIns="0" bIns="0">
            <a:spAutoFit/>
          </a:bodyPr>
          <a:lstStyle/>
          <a:p>
            <a:pPr algn="l">
              <a:lnSpc>
                <a:spcPct val="145000"/>
              </a:lnSpc>
              <a:spcAft>
                <a:spcPts val="600"/>
              </a:spcAft>
            </a:pPr>
            <a:r>
              <a:rPr sz="1800" b="0">
                <a:solidFill>
                  <a:srgbClr val="55504A"/>
                </a:solidFill>
                <a:latin typeface="Arial"/>
              </a:rPr>
              <a:t>There is no question and no answer. A booking carries a time range, and the database </a:t>
            </a:r>
            <a:r>
              <a:rPr sz="1800" b="1">
                <a:solidFill>
                  <a:srgbClr val="22201E"/>
                </a:solidFill>
                <a:latin typeface="Arial"/>
              </a:rPr>
              <a:t>physically cannot store two overlapping ranges</a:t>
            </a:r>
            <a:r>
              <a:rPr sz="1800" b="0">
                <a:solidFill>
                  <a:srgbClr val="55504A"/>
                </a:solidFill>
                <a:latin typeface="Arial"/>
              </a:rPr>
              <a:t> for the same facility. The loser is rejected with SQLSTATE </a:t>
            </a:r>
            <a:r>
              <a:rPr sz="1800" b="1">
                <a:solidFill>
                  <a:srgbClr val="22201E"/>
                </a:solidFill>
                <a:latin typeface="Consolas"/>
              </a:rPr>
              <a:t>23P01</a:t>
            </a:r>
            <a:r>
              <a:rPr sz="1800" b="0">
                <a:solidFill>
                  <a:srgbClr val="55504A"/>
                </a:solidFill>
                <a:latin typeface="Arial"/>
              </a:rPr>
              <a:t> before it ever becomes a row — no availability check on the write path, and no application lock on the slot.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74320"/>
          </a:xfrm>
          <a:prstGeom prst="rect">
            <a:avLst/>
          </a:prstGeom>
          <a:noFill/>
        </p:spPr>
        <p:txBody>
          <a:bodyPr wrap="square" lIns="0" rIns="0" tIns="0" bIns="0">
            <a:spAutoFit/>
          </a:bodyPr>
          <a:lstStyle/>
          <a:p>
            <a:pPr algn="l">
              <a:lnSpc>
                <a:spcPct val="125000"/>
              </a:lnSpc>
              <a:spcAft>
                <a:spcPts val="600"/>
              </a:spcAft>
            </a:pPr>
            <a:r>
              <a:rPr sz="1200" b="1">
                <a:solidFill>
                  <a:srgbClr val="B4512A"/>
                </a:solidFill>
                <a:latin typeface="Arial"/>
              </a:rPr>
              <a:t>WHY NOT A UNIQUE KEY</a:t>
            </a:r>
          </a:p>
        </p:txBody>
      </p:sp>
      <p:sp>
        <p:nvSpPr>
          <p:cNvPr id="4" name="TextBox 3"/>
          <p:cNvSpPr txBox="1"/>
          <p:nvPr/>
        </p:nvSpPr>
        <p:spPr>
          <a:xfrm>
            <a:off x="658368" y="786384"/>
            <a:ext cx="10874959" cy="914400"/>
          </a:xfrm>
          <a:prstGeom prst="rect">
            <a:avLst/>
          </a:prstGeom>
          <a:noFill/>
        </p:spPr>
        <p:txBody>
          <a:bodyPr wrap="square" lIns="0" rIns="0" tIns="0" bIns="0">
            <a:spAutoFit/>
          </a:bodyPr>
          <a:lstStyle/>
          <a:p>
            <a:pPr algn="l">
              <a:lnSpc>
                <a:spcPct val="102000"/>
              </a:lnSpc>
              <a:spcAft>
                <a:spcPts val="600"/>
              </a:spcAft>
            </a:pPr>
            <a:r>
              <a:rPr sz="3400" b="1">
                <a:solidFill>
                  <a:srgbClr val="22201E"/>
                </a:solidFill>
                <a:latin typeface="Georgia"/>
              </a:rPr>
              <a:t>PARTIAL OVERLAP IS THE CASE THAT HAPPENS</a:t>
            </a:r>
          </a:p>
        </p:txBody>
      </p:sp>
      <p:sp>
        <p:nvSpPr>
          <p:cNvPr id="5" name="Rectangle 4"/>
          <p:cNvSpPr/>
          <p:nvPr/>
        </p:nvSpPr>
        <p:spPr>
          <a:xfrm>
            <a:off x="658368" y="1572768"/>
            <a:ext cx="822960" cy="38100"/>
          </a:xfrm>
          <a:prstGeom prst="rect">
            <a:avLst/>
          </a:prstGeom>
          <a:solidFill>
            <a:srgbClr val="C29A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291072"/>
            <a:ext cx="10326319" cy="274320"/>
          </a:xfrm>
          <a:prstGeom prst="rect">
            <a:avLst/>
          </a:prstGeom>
          <a:noFill/>
        </p:spPr>
        <p:txBody>
          <a:bodyPr wrap="square" lIns="0" rIns="0" tIns="0" bIns="0">
            <a:spAutoFit/>
          </a:bodyPr>
          <a:lstStyle/>
          <a:p>
            <a:pPr algn="l">
              <a:lnSpc>
                <a:spcPct val="125000"/>
              </a:lnSpc>
              <a:spcAft>
                <a:spcPts val="600"/>
              </a:spcAft>
            </a:pPr>
            <a:r>
              <a:rPr sz="1000" b="0">
                <a:solidFill>
                  <a:srgbClr val="837C73"/>
                </a:solidFill>
                <a:latin typeface="Arial"/>
              </a:rPr>
              <a:t>PLAYHACK · TEAM INNOVAIT</a:t>
            </a:r>
          </a:p>
        </p:txBody>
      </p:sp>
      <p:sp>
        <p:nvSpPr>
          <p:cNvPr id="7" name="TextBox 6"/>
          <p:cNvSpPr txBox="1"/>
          <p:nvPr/>
        </p:nvSpPr>
        <p:spPr>
          <a:xfrm>
            <a:off x="10984687" y="6291072"/>
            <a:ext cx="548640" cy="274320"/>
          </a:xfrm>
          <a:prstGeom prst="rect">
            <a:avLst/>
          </a:prstGeom>
          <a:noFill/>
        </p:spPr>
        <p:txBody>
          <a:bodyPr wrap="square" lIns="0" rIns="0" tIns="0" bIns="0">
            <a:spAutoFit/>
          </a:bodyPr>
          <a:lstStyle/>
          <a:p>
            <a:pPr algn="r">
              <a:lnSpc>
                <a:spcPct val="125000"/>
              </a:lnSpc>
              <a:spcAft>
                <a:spcPts val="600"/>
              </a:spcAft>
            </a:pPr>
            <a:r>
              <a:rPr sz="1000" b="0">
                <a:solidFill>
                  <a:srgbClr val="837C73"/>
                </a:solidFill>
                <a:latin typeface="Arial"/>
              </a:rPr>
              <a:t>04</a:t>
            </a:r>
          </a:p>
        </p:txBody>
      </p:sp>
      <p:graphicFrame>
        <p:nvGraphicFramePr>
          <p:cNvPr id="8" name="Table 7"/>
          <p:cNvGraphicFramePr>
            <a:graphicFrameLocks noGrp="1"/>
          </p:cNvGraphicFramePr>
          <p:nvPr/>
        </p:nvGraphicFramePr>
        <p:xfrm>
          <a:off x="658368" y="2057400"/>
          <a:ext cx="10874957" cy="2514600"/>
        </p:xfrm>
        <a:graphic>
          <a:graphicData uri="http://schemas.openxmlformats.org/drawingml/2006/table">
            <a:tbl>
              <a:tblPr firstRow="1" bandRow="1">
                <a:tableStyleId>{5C22544A-7EE6-4342-B048-85BDC9FD1C3A}</a:tableStyleId>
              </a:tblPr>
              <a:tblGrid>
                <a:gridCol w="4784981"/>
                <a:gridCol w="3044988"/>
                <a:gridCol w="3044988"/>
              </a:tblGrid>
              <a:tr h="502920">
                <a:tc>
                  <a:txBody>
                    <a:bodyPr wrap="square"/>
                    <a:lstStyle/>
                    <a:p>
                      <a:pPr>
                        <a:lnSpc>
                          <a:spcPct val="118000"/>
                        </a:lnSpc>
                      </a:pPr>
                      <a:r>
                        <a:rPr sz="1100" b="1">
                          <a:solidFill>
                            <a:srgbClr val="837C73"/>
                          </a:solidFill>
                          <a:latin typeface="Arial"/>
                        </a:rPr>
                        <a:t/>
                      </a:r>
                    </a:p>
                  </a:txBody>
                  <a:tcPr marL="54864" marR="54864" marT="36576" marB="36576" anchor="ctr">
                    <a:solidFill>
                      <a:srgbClr val="F7F4EE"/>
                    </a:solidFill>
                  </a:tcPr>
                </a:tc>
                <a:tc>
                  <a:txBody>
                    <a:bodyPr wrap="square"/>
                    <a:lstStyle/>
                    <a:p>
                      <a:pPr>
                        <a:lnSpc>
                          <a:spcPct val="118000"/>
                        </a:lnSpc>
                      </a:pPr>
                      <a:r>
                        <a:rPr sz="1100" b="1">
                          <a:solidFill>
                            <a:srgbClr val="837C73"/>
                          </a:solidFill>
                          <a:latin typeface="Arial"/>
                        </a:rPr>
                        <a:t>UNIQUE (facility, starts_at)</a:t>
                      </a:r>
                    </a:p>
                  </a:txBody>
                  <a:tcPr marL="54864" marR="54864" marT="36576" marB="36576" anchor="ctr">
                    <a:solidFill>
                      <a:srgbClr val="F7F4EE"/>
                    </a:solidFill>
                  </a:tcPr>
                </a:tc>
                <a:tc>
                  <a:txBody>
                    <a:bodyPr wrap="square"/>
                    <a:lstStyle/>
                    <a:p>
                      <a:pPr>
                        <a:lnSpc>
                          <a:spcPct val="118000"/>
                        </a:lnSpc>
                      </a:pPr>
                      <a:r>
                        <a:rPr sz="1100" b="1">
                          <a:solidFill>
                            <a:srgbClr val="837C73"/>
                          </a:solidFill>
                          <a:latin typeface="Arial"/>
                        </a:rPr>
                        <a:t>EXCLUDE … WITH &amp;&amp;</a:t>
                      </a:r>
                    </a:p>
                  </a:txBody>
                  <a:tcPr marL="54864" marR="54864" marT="36576" marB="36576" anchor="ctr">
                    <a:solidFill>
                      <a:srgbClr val="F7F4EE"/>
                    </a:solidFill>
                  </a:tcPr>
                </a:tc>
              </a:tr>
              <a:tr h="502920">
                <a:tc>
                  <a:txBody>
                    <a:bodyPr wrap="square"/>
                    <a:lstStyle/>
                    <a:p>
                      <a:pPr>
                        <a:lnSpc>
                          <a:spcPct val="118000"/>
                        </a:lnSpc>
                      </a:pPr>
                      <a:r>
                        <a:rPr sz="1500" b="0">
                          <a:solidFill>
                            <a:srgbClr val="55504A"/>
                          </a:solidFill>
                          <a:latin typeface="Arial"/>
                        </a:rPr>
                        <a:t>Two bookings at 18:00</a:t>
                      </a:r>
                    </a:p>
                  </a:txBody>
                  <a:tcPr marL="54864" marR="54864" marT="36576" marB="36576" anchor="ctr">
                    <a:solidFill>
                      <a:srgbClr val="F7F4EE"/>
                    </a:solidFill>
                  </a:tcPr>
                </a:tc>
                <a:tc>
                  <a:txBody>
                    <a:bodyPr wrap="square"/>
                    <a:lstStyle/>
                    <a:p>
                      <a:pPr>
                        <a:lnSpc>
                          <a:spcPct val="118000"/>
                        </a:lnSpc>
                      </a:pPr>
                      <a:r>
                        <a:rPr sz="1500" b="1">
                          <a:solidFill>
                            <a:srgbClr val="2E6B3E"/>
                          </a:solidFill>
                          <a:latin typeface="Arial"/>
                        </a:rPr>
                        <a:t>rejected</a:t>
                      </a:r>
                    </a:p>
                  </a:txBody>
                  <a:tcPr marL="54864" marR="54864" marT="36576" marB="36576" anchor="ctr">
                    <a:solidFill>
                      <a:srgbClr val="F7F4EE"/>
                    </a:solidFill>
                  </a:tcPr>
                </a:tc>
                <a:tc>
                  <a:txBody>
                    <a:bodyPr wrap="square"/>
                    <a:lstStyle/>
                    <a:p>
                      <a:pPr>
                        <a:lnSpc>
                          <a:spcPct val="118000"/>
                        </a:lnSpc>
                      </a:pPr>
                      <a:r>
                        <a:rPr sz="1500" b="1">
                          <a:solidFill>
                            <a:srgbClr val="2E6B3E"/>
                          </a:solidFill>
                          <a:latin typeface="Arial"/>
                        </a:rPr>
                        <a:t>rejected</a:t>
                      </a:r>
                    </a:p>
                  </a:txBody>
                  <a:tcPr marL="54864" marR="54864" marT="36576" marB="36576" anchor="ctr">
                    <a:solidFill>
                      <a:srgbClr val="F7F4EE"/>
                    </a:solidFill>
                  </a:tcPr>
                </a:tc>
              </a:tr>
              <a:tr h="502920">
                <a:tc>
                  <a:txBody>
                    <a:bodyPr wrap="square"/>
                    <a:lstStyle/>
                    <a:p>
                      <a:pPr>
                        <a:lnSpc>
                          <a:spcPct val="118000"/>
                        </a:lnSpc>
                      </a:pPr>
                      <a:r>
                        <a:rPr sz="1500" b="1">
                          <a:solidFill>
                            <a:srgbClr val="22201E"/>
                          </a:solidFill>
                          <a:latin typeface="Arial"/>
                        </a:rPr>
                        <a:t>18:00–19:00 vs 18:30–19:30</a:t>
                      </a:r>
                    </a:p>
                  </a:txBody>
                  <a:tcPr marL="54864" marR="54864" marT="36576" marB="36576" anchor="ctr">
                    <a:solidFill>
                      <a:srgbClr val="F7F4EE"/>
                    </a:solidFill>
                  </a:tcPr>
                </a:tc>
                <a:tc>
                  <a:txBody>
                    <a:bodyPr wrap="square"/>
                    <a:lstStyle/>
                    <a:p>
                      <a:pPr>
                        <a:lnSpc>
                          <a:spcPct val="118000"/>
                        </a:lnSpc>
                      </a:pPr>
                      <a:r>
                        <a:rPr sz="1500" b="1">
                          <a:solidFill>
                            <a:srgbClr val="8C2F22"/>
                          </a:solidFill>
                          <a:latin typeface="Arial"/>
                        </a:rPr>
                        <a:t>both stored</a:t>
                      </a:r>
                    </a:p>
                  </a:txBody>
                  <a:tcPr marL="54864" marR="54864" marT="36576" marB="36576" anchor="ctr">
                    <a:solidFill>
                      <a:srgbClr val="F7F4EE"/>
                    </a:solidFill>
                  </a:tcPr>
                </a:tc>
                <a:tc>
                  <a:txBody>
                    <a:bodyPr wrap="square"/>
                    <a:lstStyle/>
                    <a:p>
                      <a:pPr>
                        <a:lnSpc>
                          <a:spcPct val="118000"/>
                        </a:lnSpc>
                      </a:pPr>
                      <a:r>
                        <a:rPr sz="1500" b="1">
                          <a:solidFill>
                            <a:srgbClr val="2E6B3E"/>
                          </a:solidFill>
                          <a:latin typeface="Arial"/>
                        </a:rPr>
                        <a:t>rejected</a:t>
                      </a:r>
                    </a:p>
                  </a:txBody>
                  <a:tcPr marL="54864" marR="54864" marT="36576" marB="36576" anchor="ctr">
                    <a:solidFill>
                      <a:srgbClr val="F7F4EE"/>
                    </a:solidFill>
                  </a:tcPr>
                </a:tc>
              </a:tr>
              <a:tr h="502920">
                <a:tc>
                  <a:txBody>
                    <a:bodyPr wrap="square"/>
                    <a:lstStyle/>
                    <a:p>
                      <a:pPr>
                        <a:lnSpc>
                          <a:spcPct val="118000"/>
                        </a:lnSpc>
                      </a:pPr>
                      <a:r>
                        <a:rPr sz="1500" b="0">
                          <a:solidFill>
                            <a:srgbClr val="55504A"/>
                          </a:solidFill>
                          <a:latin typeface="Arial"/>
                        </a:rPr>
                        <a:t>A two-hour closure over four slots</a:t>
                      </a:r>
                    </a:p>
                  </a:txBody>
                  <a:tcPr marL="54864" marR="54864" marT="36576" marB="36576" anchor="ctr">
                    <a:solidFill>
                      <a:srgbClr val="F7F4EE"/>
                    </a:solidFill>
                  </a:tcPr>
                </a:tc>
                <a:tc>
                  <a:txBody>
                    <a:bodyPr wrap="square"/>
                    <a:lstStyle/>
                    <a:p>
                      <a:pPr>
                        <a:lnSpc>
                          <a:spcPct val="118000"/>
                        </a:lnSpc>
                      </a:pPr>
                      <a:r>
                        <a:rPr sz="1500" b="1">
                          <a:solidFill>
                            <a:srgbClr val="8C2F22"/>
                          </a:solidFill>
                          <a:latin typeface="Arial"/>
                        </a:rPr>
                        <a:t>not expressible</a:t>
                      </a:r>
                    </a:p>
                  </a:txBody>
                  <a:tcPr marL="54864" marR="54864" marT="36576" marB="36576" anchor="ctr">
                    <a:solidFill>
                      <a:srgbClr val="F7F4EE"/>
                    </a:solidFill>
                  </a:tcPr>
                </a:tc>
                <a:tc>
                  <a:txBody>
                    <a:bodyPr wrap="square"/>
                    <a:lstStyle/>
                    <a:p>
                      <a:pPr>
                        <a:lnSpc>
                          <a:spcPct val="118000"/>
                        </a:lnSpc>
                      </a:pPr>
                      <a:r>
                        <a:rPr sz="1500" b="1">
                          <a:solidFill>
                            <a:srgbClr val="2E6B3E"/>
                          </a:solidFill>
                          <a:latin typeface="Arial"/>
                        </a:rPr>
                        <a:t>one row</a:t>
                      </a:r>
                    </a:p>
                  </a:txBody>
                  <a:tcPr marL="54864" marR="54864" marT="36576" marB="36576" anchor="ctr">
                    <a:solidFill>
                      <a:srgbClr val="F7F4EE"/>
                    </a:solidFill>
                  </a:tcPr>
                </a:tc>
              </a:tr>
              <a:tr h="502920">
                <a:tc>
                  <a:txBody>
                    <a:bodyPr wrap="square"/>
                    <a:lstStyle/>
                    <a:p>
                      <a:pPr>
                        <a:lnSpc>
                          <a:spcPct val="118000"/>
                        </a:lnSpc>
                      </a:pPr>
                      <a:r>
                        <a:rPr sz="1500" b="0">
                          <a:solidFill>
                            <a:srgbClr val="55504A"/>
                          </a:solidFill>
                          <a:latin typeface="Arial"/>
                        </a:rPr>
                        <a:t>Cancelling frees the slot</a:t>
                      </a:r>
                    </a:p>
                  </a:txBody>
                  <a:tcPr marL="54864" marR="54864" marT="36576" marB="36576" anchor="ctr">
                    <a:solidFill>
                      <a:srgbClr val="F7F4EE"/>
                    </a:solidFill>
                  </a:tcPr>
                </a:tc>
                <a:tc>
                  <a:txBody>
                    <a:bodyPr wrap="square"/>
                    <a:lstStyle/>
                    <a:p>
                      <a:pPr>
                        <a:lnSpc>
                          <a:spcPct val="118000"/>
                        </a:lnSpc>
                      </a:pPr>
                      <a:r>
                        <a:rPr sz="1500" b="0">
                          <a:solidFill>
                            <a:srgbClr val="55504A"/>
                          </a:solidFill>
                          <a:latin typeface="Arial"/>
                        </a:rPr>
                        <a:t>needs a delete</a:t>
                      </a:r>
                    </a:p>
                  </a:txBody>
                  <a:tcPr marL="54864" marR="54864" marT="36576" marB="36576" anchor="ctr">
                    <a:solidFill>
                      <a:srgbClr val="F7F4EE"/>
                    </a:solidFill>
                  </a:tcPr>
                </a:tc>
                <a:tc>
                  <a:txBody>
                    <a:bodyPr wrap="square"/>
                    <a:lstStyle/>
                    <a:p>
                      <a:pPr>
                        <a:lnSpc>
                          <a:spcPct val="118000"/>
                        </a:lnSpc>
                      </a:pPr>
                      <a:r>
                        <a:rPr sz="1500" b="1">
                          <a:solidFill>
                            <a:srgbClr val="2E6B3E"/>
                          </a:solidFill>
                          <a:latin typeface="Arial"/>
                        </a:rPr>
                        <a:t>status flip</a:t>
                      </a:r>
                    </a:p>
                  </a:txBody>
                  <a:tcPr marL="54864" marR="54864" marT="36576" marB="36576" anchor="ctr">
                    <a:solidFill>
                      <a:srgbClr val="F7F4EE"/>
                    </a:solidFill>
                  </a:tcPr>
                </a:tc>
              </a:tr>
            </a:tbl>
          </a:graphicData>
        </a:graphic>
      </p:graphicFrame>
      <p:sp>
        <p:nvSpPr>
          <p:cNvPr id="9" name="TextBox 8"/>
          <p:cNvSpPr txBox="1"/>
          <p:nvPr/>
        </p:nvSpPr>
        <p:spPr>
          <a:xfrm>
            <a:off x="658368" y="5120640"/>
            <a:ext cx="10874959" cy="822960"/>
          </a:xfrm>
          <a:prstGeom prst="rect">
            <a:avLst/>
          </a:prstGeom>
          <a:noFill/>
        </p:spPr>
        <p:txBody>
          <a:bodyPr wrap="square" lIns="0" rIns="0" tIns="0" bIns="0">
            <a:spAutoFit/>
          </a:bodyPr>
          <a:lstStyle/>
          <a:p>
            <a:pPr algn="l">
              <a:lnSpc>
                <a:spcPct val="140000"/>
              </a:lnSpc>
              <a:spcAft>
                <a:spcPts val="600"/>
              </a:spcAft>
            </a:pPr>
            <a:r>
              <a:rPr sz="1700" b="0">
                <a:solidFill>
                  <a:srgbClr val="55504A"/>
                </a:solidFill>
                <a:latin typeface="Arial"/>
              </a:rPr>
              <a:t>A booking from 18:30 does not share a start time with one from 18:00 — but it </a:t>
            </a:r>
            <a:r>
              <a:rPr sz="1700" b="1">
                <a:solidFill>
                  <a:srgbClr val="22201E"/>
                </a:solidFill>
                <a:latin typeface="Arial"/>
              </a:rPr>
              <a:t>overlaps</a:t>
            </a:r>
            <a:r>
              <a:rPr sz="1700" b="0">
                <a:solidFill>
                  <a:srgbClr val="55504A"/>
                </a:solidFill>
                <a:latin typeface="Arial"/>
              </a:rPr>
              <a:t> it, and overlap is what matters to a student holding a racket.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how-it-decides.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74320"/>
          </a:xfrm>
          <a:prstGeom prst="rect">
            <a:avLst/>
          </a:prstGeom>
          <a:noFill/>
        </p:spPr>
        <p:txBody>
          <a:bodyPr wrap="square" lIns="0" rIns="0" tIns="0" bIns="0">
            <a:spAutoFit/>
          </a:bodyPr>
          <a:lstStyle/>
          <a:p>
            <a:pPr algn="l">
              <a:lnSpc>
                <a:spcPct val="125000"/>
              </a:lnSpc>
              <a:spcAft>
                <a:spcPts val="600"/>
              </a:spcAft>
            </a:pPr>
            <a:r>
              <a:rPr sz="1200" b="1">
                <a:solidFill>
                  <a:srgbClr val="B4512A"/>
                </a:solidFill>
                <a:latin typeface="Arial"/>
              </a:rPr>
              <a:t>THE SAME BURST, FIRED TWICE AT PRODUCTION</a:t>
            </a:r>
          </a:p>
        </p:txBody>
      </p:sp>
      <p:sp>
        <p:nvSpPr>
          <p:cNvPr id="4" name="TextBox 3"/>
          <p:cNvSpPr txBox="1"/>
          <p:nvPr/>
        </p:nvSpPr>
        <p:spPr>
          <a:xfrm>
            <a:off x="658368" y="786384"/>
            <a:ext cx="10874959" cy="914400"/>
          </a:xfrm>
          <a:prstGeom prst="rect">
            <a:avLst/>
          </a:prstGeom>
          <a:noFill/>
        </p:spPr>
        <p:txBody>
          <a:bodyPr wrap="square" lIns="0" rIns="0" tIns="0" bIns="0">
            <a:spAutoFit/>
          </a:bodyPr>
          <a:lstStyle/>
          <a:p>
            <a:pPr algn="l">
              <a:lnSpc>
                <a:spcPct val="102000"/>
              </a:lnSpc>
              <a:spcAft>
                <a:spcPts val="600"/>
              </a:spcAft>
            </a:pPr>
            <a:r>
              <a:rPr sz="3400" b="1">
                <a:solidFill>
                  <a:srgbClr val="22201E"/>
                </a:solidFill>
                <a:latin typeface="Georgia"/>
              </a:rPr>
              <a:t>FIFTY REQUESTS. ONE COURT.</a:t>
            </a:r>
          </a:p>
        </p:txBody>
      </p:sp>
      <p:sp>
        <p:nvSpPr>
          <p:cNvPr id="5" name="Rectangle 4"/>
          <p:cNvSpPr/>
          <p:nvPr/>
        </p:nvSpPr>
        <p:spPr>
          <a:xfrm>
            <a:off x="658368" y="1572768"/>
            <a:ext cx="822960" cy="38100"/>
          </a:xfrm>
          <a:prstGeom prst="rect">
            <a:avLst/>
          </a:prstGeom>
          <a:solidFill>
            <a:srgbClr val="C29A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291072"/>
            <a:ext cx="10326319" cy="274320"/>
          </a:xfrm>
          <a:prstGeom prst="rect">
            <a:avLst/>
          </a:prstGeom>
          <a:noFill/>
        </p:spPr>
        <p:txBody>
          <a:bodyPr wrap="square" lIns="0" rIns="0" tIns="0" bIns="0">
            <a:spAutoFit/>
          </a:bodyPr>
          <a:lstStyle/>
          <a:p>
            <a:pPr algn="l">
              <a:lnSpc>
                <a:spcPct val="125000"/>
              </a:lnSpc>
              <a:spcAft>
                <a:spcPts val="600"/>
              </a:spcAft>
            </a:pPr>
            <a:r>
              <a:rPr sz="1000" b="0">
                <a:solidFill>
                  <a:srgbClr val="837C73"/>
                </a:solidFill>
                <a:latin typeface="Arial"/>
              </a:rPr>
              <a:t>MEASURED LIVE · NOT SIMULATED</a:t>
            </a:r>
          </a:p>
        </p:txBody>
      </p:sp>
      <p:sp>
        <p:nvSpPr>
          <p:cNvPr id="7" name="TextBox 6"/>
          <p:cNvSpPr txBox="1"/>
          <p:nvPr/>
        </p:nvSpPr>
        <p:spPr>
          <a:xfrm>
            <a:off x="10984687" y="6291072"/>
            <a:ext cx="548640" cy="274320"/>
          </a:xfrm>
          <a:prstGeom prst="rect">
            <a:avLst/>
          </a:prstGeom>
          <a:noFill/>
        </p:spPr>
        <p:txBody>
          <a:bodyPr wrap="square" lIns="0" rIns="0" tIns="0" bIns="0">
            <a:spAutoFit/>
          </a:bodyPr>
          <a:lstStyle/>
          <a:p>
            <a:pPr algn="r">
              <a:lnSpc>
                <a:spcPct val="125000"/>
              </a:lnSpc>
              <a:spcAft>
                <a:spcPts val="600"/>
              </a:spcAft>
            </a:pPr>
            <a:r>
              <a:rPr sz="1000" b="0">
                <a:solidFill>
                  <a:srgbClr val="837C73"/>
                </a:solidFill>
                <a:latin typeface="Arial"/>
              </a:rPr>
              <a:t>06</a:t>
            </a:r>
          </a:p>
        </p:txBody>
      </p:sp>
      <p:sp>
        <p:nvSpPr>
          <p:cNvPr id="8" name="TextBox 7"/>
          <p:cNvSpPr txBox="1"/>
          <p:nvPr/>
        </p:nvSpPr>
        <p:spPr>
          <a:xfrm>
            <a:off x="658368" y="2103120"/>
            <a:ext cx="5120640" cy="274320"/>
          </a:xfrm>
          <a:prstGeom prst="rect">
            <a:avLst/>
          </a:prstGeom>
          <a:noFill/>
        </p:spPr>
        <p:txBody>
          <a:bodyPr wrap="square" lIns="0" rIns="0" tIns="0" bIns="0">
            <a:spAutoFit/>
          </a:bodyPr>
          <a:lstStyle/>
          <a:p>
            <a:pPr algn="l">
              <a:lnSpc>
                <a:spcPct val="125000"/>
              </a:lnSpc>
              <a:spcAft>
                <a:spcPts val="600"/>
              </a:spcAft>
            </a:pPr>
            <a:r>
              <a:rPr sz="1300" b="1">
                <a:solidFill>
                  <a:srgbClr val="8C2F22"/>
                </a:solidFill>
                <a:latin typeface="Arial"/>
              </a:rPr>
              <a:t>CHECK, THEN WRITE</a:t>
            </a:r>
          </a:p>
        </p:txBody>
      </p:sp>
      <p:sp>
        <p:nvSpPr>
          <p:cNvPr id="9" name="TextBox 8"/>
          <p:cNvSpPr txBox="1"/>
          <p:nvPr/>
        </p:nvSpPr>
        <p:spPr>
          <a:xfrm>
            <a:off x="658368" y="2514600"/>
            <a:ext cx="3108960" cy="731520"/>
          </a:xfrm>
          <a:prstGeom prst="rect">
            <a:avLst/>
          </a:prstGeom>
          <a:noFill/>
        </p:spPr>
        <p:txBody>
          <a:bodyPr wrap="square" lIns="0" rIns="0" tIns="0" bIns="0">
            <a:spAutoFit/>
          </a:bodyPr>
          <a:lstStyle/>
          <a:p>
            <a:pPr algn="l">
              <a:lnSpc>
                <a:spcPct val="125000"/>
              </a:lnSpc>
              <a:spcAft>
                <a:spcPts val="600"/>
              </a:spcAft>
            </a:pPr>
            <a:r>
              <a:rPr sz="5200" b="1">
                <a:solidFill>
                  <a:srgbClr val="8C2F22"/>
                </a:solidFill>
                <a:latin typeface="Consolas"/>
              </a:rPr>
              <a:t>50</a:t>
            </a:r>
          </a:p>
        </p:txBody>
      </p:sp>
      <p:sp>
        <p:nvSpPr>
          <p:cNvPr id="10" name="TextBox 9"/>
          <p:cNvSpPr txBox="1"/>
          <p:nvPr/>
        </p:nvSpPr>
        <p:spPr>
          <a:xfrm>
            <a:off x="658368" y="3227832"/>
            <a:ext cx="3108960" cy="822960"/>
          </a:xfrm>
          <a:prstGeom prst="rect">
            <a:avLst/>
          </a:prstGeom>
          <a:noFill/>
        </p:spPr>
        <p:txBody>
          <a:bodyPr wrap="square" lIns="0" rIns="0" tIns="0" bIns="0">
            <a:spAutoFit/>
          </a:bodyPr>
          <a:lstStyle/>
          <a:p>
            <a:pPr algn="l">
              <a:lnSpc>
                <a:spcPct val="120000"/>
              </a:lnSpc>
              <a:spcAft>
                <a:spcPts val="600"/>
              </a:spcAft>
            </a:pPr>
            <a:r>
              <a:rPr sz="1400" b="0">
                <a:solidFill>
                  <a:srgbClr val="55504A"/>
                </a:solidFill>
                <a:latin typeface="Arial"/>
              </a:rPr>
              <a:t>bookings confirmed. Nothing errored.</a:t>
            </a:r>
          </a:p>
        </p:txBody>
      </p:sp>
      <p:sp>
        <p:nvSpPr>
          <p:cNvPr id="11" name="TextBox 10"/>
          <p:cNvSpPr txBox="1"/>
          <p:nvPr/>
        </p:nvSpPr>
        <p:spPr>
          <a:xfrm>
            <a:off x="658368" y="3977639"/>
            <a:ext cx="3108960" cy="731520"/>
          </a:xfrm>
          <a:prstGeom prst="rect">
            <a:avLst/>
          </a:prstGeom>
          <a:noFill/>
        </p:spPr>
        <p:txBody>
          <a:bodyPr wrap="square" lIns="0" rIns="0" tIns="0" bIns="0">
            <a:spAutoFit/>
          </a:bodyPr>
          <a:lstStyle/>
          <a:p>
            <a:pPr algn="l">
              <a:lnSpc>
                <a:spcPct val="125000"/>
              </a:lnSpc>
              <a:spcAft>
                <a:spcPts val="600"/>
              </a:spcAft>
            </a:pPr>
            <a:r>
              <a:rPr sz="5200" b="1">
                <a:solidFill>
                  <a:srgbClr val="8C2F22"/>
                </a:solidFill>
                <a:latin typeface="Consolas"/>
              </a:rPr>
              <a:t>1225</a:t>
            </a:r>
          </a:p>
        </p:txBody>
      </p:sp>
      <p:sp>
        <p:nvSpPr>
          <p:cNvPr id="12" name="TextBox 11"/>
          <p:cNvSpPr txBox="1"/>
          <p:nvPr/>
        </p:nvSpPr>
        <p:spPr>
          <a:xfrm>
            <a:off x="658368" y="4690871"/>
            <a:ext cx="3108960" cy="822960"/>
          </a:xfrm>
          <a:prstGeom prst="rect">
            <a:avLst/>
          </a:prstGeom>
          <a:noFill/>
        </p:spPr>
        <p:txBody>
          <a:bodyPr wrap="square" lIns="0" rIns="0" tIns="0" bIns="0">
            <a:spAutoFit/>
          </a:bodyPr>
          <a:lstStyle/>
          <a:p>
            <a:pPr algn="l">
              <a:lnSpc>
                <a:spcPct val="120000"/>
              </a:lnSpc>
              <a:spcAft>
                <a:spcPts val="600"/>
              </a:spcAft>
            </a:pPr>
            <a:r>
              <a:rPr sz="1400" b="0">
                <a:solidFill>
                  <a:srgbClr val="55504A"/>
                </a:solidFill>
                <a:latin typeface="Arial"/>
              </a:rPr>
              <a:t>overlapping pairs, swept across the whole table</a:t>
            </a:r>
          </a:p>
        </p:txBody>
      </p:sp>
      <p:sp>
        <p:nvSpPr>
          <p:cNvPr id="13" name="TextBox 12"/>
          <p:cNvSpPr txBox="1"/>
          <p:nvPr/>
        </p:nvSpPr>
        <p:spPr>
          <a:xfrm>
            <a:off x="6492240" y="2103120"/>
            <a:ext cx="5029200" cy="274320"/>
          </a:xfrm>
          <a:prstGeom prst="rect">
            <a:avLst/>
          </a:prstGeom>
          <a:noFill/>
        </p:spPr>
        <p:txBody>
          <a:bodyPr wrap="square" lIns="0" rIns="0" tIns="0" bIns="0">
            <a:spAutoFit/>
          </a:bodyPr>
          <a:lstStyle/>
          <a:p>
            <a:pPr algn="l">
              <a:lnSpc>
                <a:spcPct val="125000"/>
              </a:lnSpc>
              <a:spcAft>
                <a:spcPts val="600"/>
              </a:spcAft>
            </a:pPr>
            <a:r>
              <a:rPr sz="1300" b="1">
                <a:solidFill>
                  <a:srgbClr val="2E6B3E"/>
                </a:solidFill>
                <a:latin typeface="Arial"/>
              </a:rPr>
              <a:t>THE WRITE IS THE DECISION</a:t>
            </a:r>
          </a:p>
        </p:txBody>
      </p:sp>
      <p:sp>
        <p:nvSpPr>
          <p:cNvPr id="14" name="TextBox 13"/>
          <p:cNvSpPr txBox="1"/>
          <p:nvPr/>
        </p:nvSpPr>
        <p:spPr>
          <a:xfrm>
            <a:off x="6492240" y="2514600"/>
            <a:ext cx="3108960" cy="731520"/>
          </a:xfrm>
          <a:prstGeom prst="rect">
            <a:avLst/>
          </a:prstGeom>
          <a:noFill/>
        </p:spPr>
        <p:txBody>
          <a:bodyPr wrap="square" lIns="0" rIns="0" tIns="0" bIns="0">
            <a:spAutoFit/>
          </a:bodyPr>
          <a:lstStyle/>
          <a:p>
            <a:pPr algn="l">
              <a:lnSpc>
                <a:spcPct val="125000"/>
              </a:lnSpc>
              <a:spcAft>
                <a:spcPts val="600"/>
              </a:spcAft>
            </a:pPr>
            <a:r>
              <a:rPr sz="5200" b="1">
                <a:solidFill>
                  <a:srgbClr val="2E6B3E"/>
                </a:solidFill>
                <a:latin typeface="Consolas"/>
              </a:rPr>
              <a:t>1</a:t>
            </a:r>
          </a:p>
        </p:txBody>
      </p:sp>
      <p:sp>
        <p:nvSpPr>
          <p:cNvPr id="15" name="TextBox 14"/>
          <p:cNvSpPr txBox="1"/>
          <p:nvPr/>
        </p:nvSpPr>
        <p:spPr>
          <a:xfrm>
            <a:off x="6492240" y="3227832"/>
            <a:ext cx="3108960" cy="822960"/>
          </a:xfrm>
          <a:prstGeom prst="rect">
            <a:avLst/>
          </a:prstGeom>
          <a:noFill/>
        </p:spPr>
        <p:txBody>
          <a:bodyPr wrap="square" lIns="0" rIns="0" tIns="0" bIns="0">
            <a:spAutoFit/>
          </a:bodyPr>
          <a:lstStyle/>
          <a:p>
            <a:pPr algn="l">
              <a:lnSpc>
                <a:spcPct val="120000"/>
              </a:lnSpc>
              <a:spcAft>
                <a:spcPts val="600"/>
              </a:spcAft>
            </a:pPr>
            <a:r>
              <a:rPr sz="1400" b="0">
                <a:solidFill>
                  <a:srgbClr val="55504A"/>
                </a:solidFill>
                <a:latin typeface="Arial"/>
              </a:rPr>
              <a:t>confirmed — 49 rejected with SQLSTATE 23P01</a:t>
            </a:r>
          </a:p>
        </p:txBody>
      </p:sp>
      <p:sp>
        <p:nvSpPr>
          <p:cNvPr id="16" name="TextBox 15"/>
          <p:cNvSpPr txBox="1"/>
          <p:nvPr/>
        </p:nvSpPr>
        <p:spPr>
          <a:xfrm>
            <a:off x="6492240" y="3977639"/>
            <a:ext cx="3108960" cy="731520"/>
          </a:xfrm>
          <a:prstGeom prst="rect">
            <a:avLst/>
          </a:prstGeom>
          <a:noFill/>
        </p:spPr>
        <p:txBody>
          <a:bodyPr wrap="square" lIns="0" rIns="0" tIns="0" bIns="0">
            <a:spAutoFit/>
          </a:bodyPr>
          <a:lstStyle/>
          <a:p>
            <a:pPr algn="l">
              <a:lnSpc>
                <a:spcPct val="125000"/>
              </a:lnSpc>
              <a:spcAft>
                <a:spcPts val="600"/>
              </a:spcAft>
            </a:pPr>
            <a:r>
              <a:rPr sz="5200" b="1">
                <a:solidFill>
                  <a:srgbClr val="22201E"/>
                </a:solidFill>
                <a:latin typeface="Consolas"/>
              </a:rPr>
              <a:t>0</a:t>
            </a:r>
          </a:p>
        </p:txBody>
      </p:sp>
      <p:sp>
        <p:nvSpPr>
          <p:cNvPr id="17" name="TextBox 16"/>
          <p:cNvSpPr txBox="1"/>
          <p:nvPr/>
        </p:nvSpPr>
        <p:spPr>
          <a:xfrm>
            <a:off x="6492240" y="4690871"/>
            <a:ext cx="3108960" cy="822960"/>
          </a:xfrm>
          <a:prstGeom prst="rect">
            <a:avLst/>
          </a:prstGeom>
          <a:noFill/>
        </p:spPr>
        <p:txBody>
          <a:bodyPr wrap="square" lIns="0" rIns="0" tIns="0" bIns="0">
            <a:spAutoFit/>
          </a:bodyPr>
          <a:lstStyle/>
          <a:p>
            <a:pPr algn="l">
              <a:lnSpc>
                <a:spcPct val="120000"/>
              </a:lnSpc>
              <a:spcAft>
                <a:spcPts val="600"/>
              </a:spcAft>
            </a:pPr>
            <a:r>
              <a:rPr sz="1400" b="0">
                <a:solidFill>
                  <a:srgbClr val="55504A"/>
                </a:solidFill>
                <a:latin typeface="Arial"/>
              </a:rPr>
              <a:t>overlapping pairs, across 380+ confirmed rows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74320"/>
          </a:xfrm>
          <a:prstGeom prst="rect">
            <a:avLst/>
          </a:prstGeom>
          <a:noFill/>
        </p:spPr>
        <p:txBody>
          <a:bodyPr wrap="square" lIns="0" rIns="0" tIns="0" bIns="0">
            <a:spAutoFit/>
          </a:bodyPr>
          <a:lstStyle/>
          <a:p>
            <a:pPr algn="l">
              <a:lnSpc>
                <a:spcPct val="125000"/>
              </a:lnSpc>
              <a:spcAft>
                <a:spcPts val="600"/>
              </a:spcAft>
            </a:pPr>
            <a:r>
              <a:rPr sz="1200" b="1">
                <a:solidFill>
                  <a:srgbClr val="B4512A"/>
                </a:solidFill>
                <a:latin typeface="Arial"/>
              </a:rPr>
              <a:t>MEASURED ON THE DEPLOYED APP</a:t>
            </a:r>
          </a:p>
        </p:txBody>
      </p:sp>
      <p:sp>
        <p:nvSpPr>
          <p:cNvPr id="4" name="TextBox 3"/>
          <p:cNvSpPr txBox="1"/>
          <p:nvPr/>
        </p:nvSpPr>
        <p:spPr>
          <a:xfrm>
            <a:off x="658368" y="786384"/>
            <a:ext cx="10874959" cy="914400"/>
          </a:xfrm>
          <a:prstGeom prst="rect">
            <a:avLst/>
          </a:prstGeom>
          <a:noFill/>
        </p:spPr>
        <p:txBody>
          <a:bodyPr wrap="square" lIns="0" rIns="0" tIns="0" bIns="0">
            <a:spAutoFit/>
          </a:bodyPr>
          <a:lstStyle/>
          <a:p>
            <a:pPr algn="l">
              <a:lnSpc>
                <a:spcPct val="102000"/>
              </a:lnSpc>
              <a:spcAft>
                <a:spcPts val="600"/>
              </a:spcAft>
            </a:pPr>
            <a:r>
              <a:rPr sz="3400" b="1">
                <a:solidFill>
                  <a:srgbClr val="22201E"/>
                </a:solidFill>
                <a:latin typeface="Georgia"/>
              </a:rPr>
              <a:t>SUB-LINEAR, NOT LINEAR</a:t>
            </a:r>
          </a:p>
        </p:txBody>
      </p:sp>
      <p:sp>
        <p:nvSpPr>
          <p:cNvPr id="5" name="Rectangle 4"/>
          <p:cNvSpPr/>
          <p:nvPr/>
        </p:nvSpPr>
        <p:spPr>
          <a:xfrm>
            <a:off x="658368" y="1572768"/>
            <a:ext cx="822960" cy="38100"/>
          </a:xfrm>
          <a:prstGeom prst="rect">
            <a:avLst/>
          </a:prstGeom>
          <a:solidFill>
            <a:srgbClr val="C29A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291072"/>
            <a:ext cx="10326319" cy="274320"/>
          </a:xfrm>
          <a:prstGeom prst="rect">
            <a:avLst/>
          </a:prstGeom>
          <a:noFill/>
        </p:spPr>
        <p:txBody>
          <a:bodyPr wrap="square" lIns="0" rIns="0" tIns="0" bIns="0">
            <a:spAutoFit/>
          </a:bodyPr>
          <a:lstStyle/>
          <a:p>
            <a:pPr algn="l">
              <a:lnSpc>
                <a:spcPct val="125000"/>
              </a:lnSpc>
              <a:spcAft>
                <a:spcPts val="600"/>
              </a:spcAft>
            </a:pPr>
            <a:r>
              <a:rPr sz="1000" b="0">
                <a:solidFill>
                  <a:srgbClr val="837C73"/>
                </a:solidFill>
                <a:latin typeface="Arial"/>
              </a:rPr>
              <a:t>TWENTY TIMES THE LOAD, ABOUT TEN TIMES THE TIME</a:t>
            </a:r>
          </a:p>
        </p:txBody>
      </p:sp>
      <p:sp>
        <p:nvSpPr>
          <p:cNvPr id="7" name="TextBox 6"/>
          <p:cNvSpPr txBox="1"/>
          <p:nvPr/>
        </p:nvSpPr>
        <p:spPr>
          <a:xfrm>
            <a:off x="10984687" y="6291072"/>
            <a:ext cx="548640" cy="274320"/>
          </a:xfrm>
          <a:prstGeom prst="rect">
            <a:avLst/>
          </a:prstGeom>
          <a:noFill/>
        </p:spPr>
        <p:txBody>
          <a:bodyPr wrap="square" lIns="0" rIns="0" tIns="0" bIns="0">
            <a:spAutoFit/>
          </a:bodyPr>
          <a:lstStyle/>
          <a:p>
            <a:pPr algn="r">
              <a:lnSpc>
                <a:spcPct val="125000"/>
              </a:lnSpc>
              <a:spcAft>
                <a:spcPts val="600"/>
              </a:spcAft>
            </a:pPr>
            <a:r>
              <a:rPr sz="1000" b="0">
                <a:solidFill>
                  <a:srgbClr val="837C73"/>
                </a:solidFill>
                <a:latin typeface="Arial"/>
              </a:rPr>
              <a:t>07</a:t>
            </a:r>
          </a:p>
        </p:txBody>
      </p:sp>
      <p:sp>
        <p:nvSpPr>
          <p:cNvPr id="8" name="TextBox 7"/>
          <p:cNvSpPr txBox="1"/>
          <p:nvPr/>
        </p:nvSpPr>
        <p:spPr>
          <a:xfrm>
            <a:off x="658368" y="2103120"/>
            <a:ext cx="4114800" cy="2377440"/>
          </a:xfrm>
          <a:prstGeom prst="rect">
            <a:avLst/>
          </a:prstGeom>
          <a:noFill/>
        </p:spPr>
        <p:txBody>
          <a:bodyPr wrap="square" lIns="0" rIns="0" tIns="0" bIns="0">
            <a:spAutoFit/>
          </a:bodyPr>
          <a:lstStyle/>
          <a:p>
            <a:pPr algn="l">
              <a:lnSpc>
                <a:spcPct val="140000"/>
              </a:lnSpc>
              <a:spcAft>
                <a:spcPts val="1200"/>
              </a:spcAft>
            </a:pPr>
            <a:r>
              <a:rPr sz="1600" b="0">
                <a:solidFill>
                  <a:srgbClr val="55504A"/>
                </a:solidFill>
                <a:latin typeface="Arial"/>
              </a:rPr>
              <a:t>All contenders attempt the insert at once. One wins; the rest block on its uncommitted row and are released together the moment it commits. </a:t>
            </a:r>
            <a:r>
              <a:rPr sz="1600" b="1">
                <a:solidFill>
                  <a:srgbClr val="22201E"/>
                </a:solidFill>
                <a:latin typeface="Arial"/>
              </a:rPr>
              <a:t>Nothing in the write path serialises on n.</a:t>
            </a:r>
          </a:p>
          <a:p>
            <a:pPr algn="l">
              <a:lnSpc>
                <a:spcPct val="140000"/>
              </a:lnSpc>
              <a:spcAft>
                <a:spcPts val="1200"/>
              </a:spcAft>
            </a:pPr>
            <a:r>
              <a:rPr sz="1400" b="0">
                <a:solidFill>
                  <a:srgbClr val="837C73"/>
                </a:solidFill>
                <a:latin typeface="Arial"/>
              </a:rPr>
              <a:t>Vercel sin1, Neon ap-southeast-1. Median of three warm runs.</a:t>
            </a:r>
          </a:p>
        </p:txBody>
      </p:sp>
      <p:graphicFrame>
        <p:nvGraphicFramePr>
          <p:cNvPr id="9" name="Table 8"/>
          <p:cNvGraphicFramePr>
            <a:graphicFrameLocks noGrp="1"/>
          </p:cNvGraphicFramePr>
          <p:nvPr/>
        </p:nvGraphicFramePr>
        <p:xfrm>
          <a:off x="5212080" y="2103120"/>
          <a:ext cx="6309359" cy="2743200"/>
        </p:xfrm>
        <a:graphic>
          <a:graphicData uri="http://schemas.openxmlformats.org/drawingml/2006/table">
            <a:tbl>
              <a:tblPr firstRow="1" bandRow="1">
                <a:tableStyleId>{5C22544A-7EE6-4342-B048-85BDC9FD1C3A}</a:tableStyleId>
              </a:tblPr>
              <a:tblGrid>
                <a:gridCol w="1388059"/>
                <a:gridCol w="1198778"/>
                <a:gridCol w="1198778"/>
                <a:gridCol w="1261872"/>
                <a:gridCol w="1261872"/>
              </a:tblGrid>
              <a:tr h="457200">
                <a:tc>
                  <a:txBody>
                    <a:bodyPr wrap="square"/>
                    <a:lstStyle/>
                    <a:p>
                      <a:pPr>
                        <a:lnSpc>
                          <a:spcPct val="118000"/>
                        </a:lnSpc>
                      </a:pPr>
                      <a:r>
                        <a:rPr sz="1100" b="1">
                          <a:solidFill>
                            <a:srgbClr val="837C73"/>
                          </a:solidFill>
                          <a:latin typeface="Arial"/>
                        </a:rPr>
                        <a:t>Mode</a:t>
                      </a:r>
                    </a:p>
                  </a:txBody>
                  <a:tcPr marL="54864" marR="54864" marT="36576" marB="36576" anchor="ctr">
                    <a:solidFill>
                      <a:srgbClr val="F7F4EE"/>
                    </a:solidFill>
                  </a:tcPr>
                </a:tc>
                <a:tc>
                  <a:txBody>
                    <a:bodyPr wrap="square"/>
                    <a:lstStyle/>
                    <a:p>
                      <a:pPr algn="r">
                        <a:lnSpc>
                          <a:spcPct val="118000"/>
                        </a:lnSpc>
                      </a:pPr>
                      <a:r>
                        <a:rPr sz="1100" b="1">
                          <a:solidFill>
                            <a:srgbClr val="837C73"/>
                          </a:solidFill>
                          <a:latin typeface="Arial"/>
                        </a:rPr>
                        <a:t>Requests</a:t>
                      </a:r>
                    </a:p>
                  </a:txBody>
                  <a:tcPr marL="54864" marR="54864" marT="36576" marB="36576" anchor="ctr">
                    <a:solidFill>
                      <a:srgbClr val="F7F4EE"/>
                    </a:solidFill>
                  </a:tcPr>
                </a:tc>
                <a:tc>
                  <a:txBody>
                    <a:bodyPr wrap="square"/>
                    <a:lstStyle/>
                    <a:p>
                      <a:pPr algn="r">
                        <a:lnSpc>
                          <a:spcPct val="118000"/>
                        </a:lnSpc>
                      </a:pPr>
                      <a:r>
                        <a:rPr sz="1100" b="1">
                          <a:solidFill>
                            <a:srgbClr val="837C73"/>
                          </a:solidFill>
                          <a:latin typeface="Arial"/>
                        </a:rPr>
                        <a:t>Server</a:t>
                      </a:r>
                    </a:p>
                  </a:txBody>
                  <a:tcPr marL="54864" marR="54864" marT="36576" marB="36576" anchor="ctr">
                    <a:solidFill>
                      <a:srgbClr val="F7F4EE"/>
                    </a:solidFill>
                  </a:tcPr>
                </a:tc>
                <a:tc>
                  <a:txBody>
                    <a:bodyPr wrap="square"/>
                    <a:lstStyle/>
                    <a:p>
                      <a:pPr algn="r">
                        <a:lnSpc>
                          <a:spcPct val="118000"/>
                        </a:lnSpc>
                      </a:pPr>
                      <a:r>
                        <a:rPr sz="1100" b="1">
                          <a:solidFill>
                            <a:srgbClr val="837C73"/>
                          </a:solidFill>
                          <a:latin typeface="Arial"/>
                        </a:rPr>
                        <a:t>Confirmed</a:t>
                      </a:r>
                    </a:p>
                  </a:txBody>
                  <a:tcPr marL="54864" marR="54864" marT="36576" marB="36576" anchor="ctr">
                    <a:solidFill>
                      <a:srgbClr val="F7F4EE"/>
                    </a:solidFill>
                  </a:tcPr>
                </a:tc>
                <a:tc>
                  <a:txBody>
                    <a:bodyPr wrap="square"/>
                    <a:lstStyle/>
                    <a:p>
                      <a:pPr algn="r">
                        <a:lnSpc>
                          <a:spcPct val="118000"/>
                        </a:lnSpc>
                      </a:pPr>
                      <a:r>
                        <a:rPr sz="1100" b="1">
                          <a:solidFill>
                            <a:srgbClr val="837C73"/>
                          </a:solidFill>
                          <a:latin typeface="Arial"/>
                        </a:rPr>
                        <a:t>Overlaps</a:t>
                      </a:r>
                    </a:p>
                  </a:txBody>
                  <a:tcPr marL="54864" marR="54864" marT="36576" marB="36576" anchor="ctr">
                    <a:solidFill>
                      <a:srgbClr val="F7F4EE"/>
                    </a:solidFill>
                  </a:tcPr>
                </a:tc>
              </a:tr>
              <a:tr h="457200">
                <a:tc>
                  <a:txBody>
                    <a:bodyPr wrap="square"/>
                    <a:lstStyle/>
                    <a:p>
                      <a:pPr>
                        <a:lnSpc>
                          <a:spcPct val="118000"/>
                        </a:lnSpc>
                      </a:pPr>
                      <a:r>
                        <a:rPr sz="1400" b="0">
                          <a:solidFill>
                            <a:srgbClr val="55504A"/>
                          </a:solidFill>
                          <a:latin typeface="Arial"/>
                        </a:rPr>
                        <a:t>naive</a:t>
                      </a:r>
                    </a:p>
                  </a:txBody>
                  <a:tcPr marL="54864" marR="54864" marT="36576" marB="36576" anchor="ctr">
                    <a:solidFill>
                      <a:srgbClr val="F7F4EE"/>
                    </a:solidFill>
                  </a:tcPr>
                </a:tc>
                <a:tc>
                  <a:txBody>
                    <a:bodyPr wrap="square"/>
                    <a:lstStyle/>
                    <a:p>
                      <a:pPr algn="r">
                        <a:lnSpc>
                          <a:spcPct val="118000"/>
                        </a:lnSpc>
                      </a:pPr>
                      <a:r>
                        <a:rPr sz="1400" b="0">
                          <a:solidFill>
                            <a:srgbClr val="55504A"/>
                          </a:solidFill>
                          <a:latin typeface="Consolas"/>
                        </a:rPr>
                        <a:t>50</a:t>
                      </a:r>
                    </a:p>
                  </a:txBody>
                  <a:tcPr marL="54864" marR="54864" marT="36576" marB="36576" anchor="ctr">
                    <a:solidFill>
                      <a:srgbClr val="F7F4EE"/>
                    </a:solidFill>
                  </a:tcPr>
                </a:tc>
                <a:tc>
                  <a:txBody>
                    <a:bodyPr wrap="square"/>
                    <a:lstStyle/>
                    <a:p>
                      <a:pPr algn="r">
                        <a:lnSpc>
                          <a:spcPct val="118000"/>
                        </a:lnSpc>
                      </a:pPr>
                      <a:r>
                        <a:rPr sz="1400" b="0">
                          <a:solidFill>
                            <a:srgbClr val="55504A"/>
                          </a:solidFill>
                          <a:latin typeface="Consolas"/>
                        </a:rPr>
                        <a:t>37 ms</a:t>
                      </a:r>
                    </a:p>
                  </a:txBody>
                  <a:tcPr marL="54864" marR="54864" marT="36576" marB="36576" anchor="ctr">
                    <a:solidFill>
                      <a:srgbClr val="F7F4EE"/>
                    </a:solidFill>
                  </a:tcPr>
                </a:tc>
                <a:tc>
                  <a:txBody>
                    <a:bodyPr wrap="square"/>
                    <a:lstStyle/>
                    <a:p>
                      <a:pPr algn="r">
                        <a:lnSpc>
                          <a:spcPct val="118000"/>
                        </a:lnSpc>
                      </a:pPr>
                      <a:r>
                        <a:rPr sz="1400" b="1">
                          <a:solidFill>
                            <a:srgbClr val="8C2F22"/>
                          </a:solidFill>
                          <a:latin typeface="Consolas"/>
                        </a:rPr>
                        <a:t>50</a:t>
                      </a:r>
                    </a:p>
                  </a:txBody>
                  <a:tcPr marL="54864" marR="54864" marT="36576" marB="36576" anchor="ctr">
                    <a:solidFill>
                      <a:srgbClr val="F7F4EE"/>
                    </a:solidFill>
                  </a:tcPr>
                </a:tc>
                <a:tc>
                  <a:txBody>
                    <a:bodyPr wrap="square"/>
                    <a:lstStyle/>
                    <a:p>
                      <a:pPr algn="r">
                        <a:lnSpc>
                          <a:spcPct val="118000"/>
                        </a:lnSpc>
                      </a:pPr>
                      <a:r>
                        <a:rPr sz="1400" b="1">
                          <a:solidFill>
                            <a:srgbClr val="8C2F22"/>
                          </a:solidFill>
                          <a:latin typeface="Consolas"/>
                        </a:rPr>
                        <a:t>1225</a:t>
                      </a:r>
                    </a:p>
                  </a:txBody>
                  <a:tcPr marL="54864" marR="54864" marT="36576" marB="36576" anchor="ctr">
                    <a:solidFill>
                      <a:srgbClr val="F7F4EE"/>
                    </a:solidFill>
                  </a:tcPr>
                </a:tc>
              </a:tr>
              <a:tr h="457200">
                <a:tc>
                  <a:txBody>
                    <a:bodyPr wrap="square"/>
                    <a:lstStyle/>
                    <a:p>
                      <a:pPr>
                        <a:lnSpc>
                          <a:spcPct val="118000"/>
                        </a:lnSpc>
                      </a:pPr>
                      <a:r>
                        <a:rPr sz="1400" b="0">
                          <a:solidFill>
                            <a:srgbClr val="55504A"/>
                          </a:solidFill>
                          <a:latin typeface="Arial"/>
                        </a:rPr>
                        <a:t>safe</a:t>
                      </a:r>
                    </a:p>
                  </a:txBody>
                  <a:tcPr marL="54864" marR="54864" marT="36576" marB="36576" anchor="ctr">
                    <a:solidFill>
                      <a:srgbClr val="F7F4EE"/>
                    </a:solidFill>
                  </a:tcPr>
                </a:tc>
                <a:tc>
                  <a:txBody>
                    <a:bodyPr wrap="square"/>
                    <a:lstStyle/>
                    <a:p>
                      <a:pPr algn="r">
                        <a:lnSpc>
                          <a:spcPct val="118000"/>
                        </a:lnSpc>
                      </a:pPr>
                      <a:r>
                        <a:rPr sz="1400" b="0">
                          <a:solidFill>
                            <a:srgbClr val="55504A"/>
                          </a:solidFill>
                          <a:latin typeface="Consolas"/>
                        </a:rPr>
                        <a:t>10</a:t>
                      </a:r>
                    </a:p>
                  </a:txBody>
                  <a:tcPr marL="54864" marR="54864" marT="36576" marB="36576" anchor="ctr">
                    <a:solidFill>
                      <a:srgbClr val="F7F4EE"/>
                    </a:solidFill>
                  </a:tcPr>
                </a:tc>
                <a:tc>
                  <a:txBody>
                    <a:bodyPr wrap="square"/>
                    <a:lstStyle/>
                    <a:p>
                      <a:pPr algn="r">
                        <a:lnSpc>
                          <a:spcPct val="118000"/>
                        </a:lnSpc>
                      </a:pPr>
                      <a:r>
                        <a:rPr sz="1400" b="0">
                          <a:solidFill>
                            <a:srgbClr val="55504A"/>
                          </a:solidFill>
                          <a:latin typeface="Consolas"/>
                        </a:rPr>
                        <a:t>47 ms</a:t>
                      </a:r>
                    </a:p>
                  </a:txBody>
                  <a:tcPr marL="54864" marR="54864" marT="36576" marB="36576" anchor="ctr">
                    <a:solidFill>
                      <a:srgbClr val="F7F4EE"/>
                    </a:solidFill>
                  </a:tcPr>
                </a:tc>
                <a:tc>
                  <a:txBody>
                    <a:bodyPr wrap="square"/>
                    <a:lstStyle/>
                    <a:p>
                      <a:pPr algn="r">
                        <a:lnSpc>
                          <a:spcPct val="118000"/>
                        </a:lnSpc>
                      </a:pPr>
                      <a:r>
                        <a:rPr sz="1400" b="0">
                          <a:solidFill>
                            <a:srgbClr val="55504A"/>
                          </a:solidFill>
                          <a:latin typeface="Consolas"/>
                        </a:rPr>
                        <a:t>1</a:t>
                      </a:r>
                    </a:p>
                  </a:txBody>
                  <a:tcPr marL="54864" marR="54864" marT="36576" marB="36576" anchor="ctr">
                    <a:solidFill>
                      <a:srgbClr val="F7F4EE"/>
                    </a:solidFill>
                  </a:tcPr>
                </a:tc>
                <a:tc>
                  <a:txBody>
                    <a:bodyPr wrap="square"/>
                    <a:lstStyle/>
                    <a:p>
                      <a:pPr algn="r">
                        <a:lnSpc>
                          <a:spcPct val="118000"/>
                        </a:lnSpc>
                      </a:pPr>
                      <a:r>
                        <a:rPr sz="1400" b="1">
                          <a:solidFill>
                            <a:srgbClr val="2E6B3E"/>
                          </a:solidFill>
                          <a:latin typeface="Consolas"/>
                        </a:rPr>
                        <a:t>0</a:t>
                      </a:r>
                    </a:p>
                  </a:txBody>
                  <a:tcPr marL="54864" marR="54864" marT="36576" marB="36576" anchor="ctr">
                    <a:solidFill>
                      <a:srgbClr val="F7F4EE"/>
                    </a:solidFill>
                  </a:tcPr>
                </a:tc>
              </a:tr>
              <a:tr h="457200">
                <a:tc>
                  <a:txBody>
                    <a:bodyPr wrap="square"/>
                    <a:lstStyle/>
                    <a:p>
                      <a:pPr>
                        <a:lnSpc>
                          <a:spcPct val="118000"/>
                        </a:lnSpc>
                      </a:pPr>
                      <a:r>
                        <a:rPr sz="1400" b="0">
                          <a:solidFill>
                            <a:srgbClr val="55504A"/>
                          </a:solidFill>
                          <a:latin typeface="Arial"/>
                        </a:rPr>
                        <a:t>safe</a:t>
                      </a:r>
                    </a:p>
                  </a:txBody>
                  <a:tcPr marL="54864" marR="54864" marT="36576" marB="36576" anchor="ctr">
                    <a:solidFill>
                      <a:srgbClr val="F7F4EE"/>
                    </a:solidFill>
                  </a:tcPr>
                </a:tc>
                <a:tc>
                  <a:txBody>
                    <a:bodyPr wrap="square"/>
                    <a:lstStyle/>
                    <a:p>
                      <a:pPr algn="r">
                        <a:lnSpc>
                          <a:spcPct val="118000"/>
                        </a:lnSpc>
                      </a:pPr>
                      <a:r>
                        <a:rPr sz="1400" b="0">
                          <a:solidFill>
                            <a:srgbClr val="55504A"/>
                          </a:solidFill>
                          <a:latin typeface="Consolas"/>
                        </a:rPr>
                        <a:t>50</a:t>
                      </a:r>
                    </a:p>
                  </a:txBody>
                  <a:tcPr marL="54864" marR="54864" marT="36576" marB="36576" anchor="ctr">
                    <a:solidFill>
                      <a:srgbClr val="F7F4EE"/>
                    </a:solidFill>
                  </a:tcPr>
                </a:tc>
                <a:tc>
                  <a:txBody>
                    <a:bodyPr wrap="square"/>
                    <a:lstStyle/>
                    <a:p>
                      <a:pPr algn="r">
                        <a:lnSpc>
                          <a:spcPct val="118000"/>
                        </a:lnSpc>
                      </a:pPr>
                      <a:r>
                        <a:rPr sz="1400" b="0">
                          <a:solidFill>
                            <a:srgbClr val="55504A"/>
                          </a:solidFill>
                          <a:latin typeface="Consolas"/>
                        </a:rPr>
                        <a:t>116 ms</a:t>
                      </a:r>
                    </a:p>
                  </a:txBody>
                  <a:tcPr marL="54864" marR="54864" marT="36576" marB="36576" anchor="ctr">
                    <a:solidFill>
                      <a:srgbClr val="F7F4EE"/>
                    </a:solidFill>
                  </a:tcPr>
                </a:tc>
                <a:tc>
                  <a:txBody>
                    <a:bodyPr wrap="square"/>
                    <a:lstStyle/>
                    <a:p>
                      <a:pPr algn="r">
                        <a:lnSpc>
                          <a:spcPct val="118000"/>
                        </a:lnSpc>
                      </a:pPr>
                      <a:r>
                        <a:rPr sz="1400" b="0">
                          <a:solidFill>
                            <a:srgbClr val="55504A"/>
                          </a:solidFill>
                          <a:latin typeface="Consolas"/>
                        </a:rPr>
                        <a:t>1</a:t>
                      </a:r>
                    </a:p>
                  </a:txBody>
                  <a:tcPr marL="54864" marR="54864" marT="36576" marB="36576" anchor="ctr">
                    <a:solidFill>
                      <a:srgbClr val="F7F4EE"/>
                    </a:solidFill>
                  </a:tcPr>
                </a:tc>
                <a:tc>
                  <a:txBody>
                    <a:bodyPr wrap="square"/>
                    <a:lstStyle/>
                    <a:p>
                      <a:pPr algn="r">
                        <a:lnSpc>
                          <a:spcPct val="118000"/>
                        </a:lnSpc>
                      </a:pPr>
                      <a:r>
                        <a:rPr sz="1400" b="1">
                          <a:solidFill>
                            <a:srgbClr val="2E6B3E"/>
                          </a:solidFill>
                          <a:latin typeface="Consolas"/>
                        </a:rPr>
                        <a:t>0</a:t>
                      </a:r>
                    </a:p>
                  </a:txBody>
                  <a:tcPr marL="54864" marR="54864" marT="36576" marB="36576" anchor="ctr">
                    <a:solidFill>
                      <a:srgbClr val="F7F4EE"/>
                    </a:solidFill>
                  </a:tcPr>
                </a:tc>
              </a:tr>
              <a:tr h="457200">
                <a:tc>
                  <a:txBody>
                    <a:bodyPr wrap="square"/>
                    <a:lstStyle/>
                    <a:p>
                      <a:pPr>
                        <a:lnSpc>
                          <a:spcPct val="118000"/>
                        </a:lnSpc>
                      </a:pPr>
                      <a:r>
                        <a:rPr sz="1400" b="0">
                          <a:solidFill>
                            <a:srgbClr val="55504A"/>
                          </a:solidFill>
                          <a:latin typeface="Arial"/>
                        </a:rPr>
                        <a:t>safe</a:t>
                      </a:r>
                    </a:p>
                  </a:txBody>
                  <a:tcPr marL="54864" marR="54864" marT="36576" marB="36576" anchor="ctr">
                    <a:solidFill>
                      <a:srgbClr val="F7F4EE"/>
                    </a:solidFill>
                  </a:tcPr>
                </a:tc>
                <a:tc>
                  <a:txBody>
                    <a:bodyPr wrap="square"/>
                    <a:lstStyle/>
                    <a:p>
                      <a:pPr algn="r">
                        <a:lnSpc>
                          <a:spcPct val="118000"/>
                        </a:lnSpc>
                      </a:pPr>
                      <a:r>
                        <a:rPr sz="1400" b="0">
                          <a:solidFill>
                            <a:srgbClr val="55504A"/>
                          </a:solidFill>
                          <a:latin typeface="Consolas"/>
                        </a:rPr>
                        <a:t>100</a:t>
                      </a:r>
                    </a:p>
                  </a:txBody>
                  <a:tcPr marL="54864" marR="54864" marT="36576" marB="36576" anchor="ctr">
                    <a:solidFill>
                      <a:srgbClr val="F7F4EE"/>
                    </a:solidFill>
                  </a:tcPr>
                </a:tc>
                <a:tc>
                  <a:txBody>
                    <a:bodyPr wrap="square"/>
                    <a:lstStyle/>
                    <a:p>
                      <a:pPr algn="r">
                        <a:lnSpc>
                          <a:spcPct val="118000"/>
                        </a:lnSpc>
                      </a:pPr>
                      <a:r>
                        <a:rPr sz="1400" b="0">
                          <a:solidFill>
                            <a:srgbClr val="55504A"/>
                          </a:solidFill>
                          <a:latin typeface="Consolas"/>
                        </a:rPr>
                        <a:t>251 ms</a:t>
                      </a:r>
                    </a:p>
                  </a:txBody>
                  <a:tcPr marL="54864" marR="54864" marT="36576" marB="36576" anchor="ctr">
                    <a:solidFill>
                      <a:srgbClr val="F7F4EE"/>
                    </a:solidFill>
                  </a:tcPr>
                </a:tc>
                <a:tc>
                  <a:txBody>
                    <a:bodyPr wrap="square"/>
                    <a:lstStyle/>
                    <a:p>
                      <a:pPr algn="r">
                        <a:lnSpc>
                          <a:spcPct val="118000"/>
                        </a:lnSpc>
                      </a:pPr>
                      <a:r>
                        <a:rPr sz="1400" b="0">
                          <a:solidFill>
                            <a:srgbClr val="55504A"/>
                          </a:solidFill>
                          <a:latin typeface="Consolas"/>
                        </a:rPr>
                        <a:t>1</a:t>
                      </a:r>
                    </a:p>
                  </a:txBody>
                  <a:tcPr marL="54864" marR="54864" marT="36576" marB="36576" anchor="ctr">
                    <a:solidFill>
                      <a:srgbClr val="F7F4EE"/>
                    </a:solidFill>
                  </a:tcPr>
                </a:tc>
                <a:tc>
                  <a:txBody>
                    <a:bodyPr wrap="square"/>
                    <a:lstStyle/>
                    <a:p>
                      <a:pPr algn="r">
                        <a:lnSpc>
                          <a:spcPct val="118000"/>
                        </a:lnSpc>
                      </a:pPr>
                      <a:r>
                        <a:rPr sz="1400" b="1">
                          <a:solidFill>
                            <a:srgbClr val="2E6B3E"/>
                          </a:solidFill>
                          <a:latin typeface="Consolas"/>
                        </a:rPr>
                        <a:t>0</a:t>
                      </a:r>
                    </a:p>
                  </a:txBody>
                  <a:tcPr marL="54864" marR="54864" marT="36576" marB="36576" anchor="ctr">
                    <a:solidFill>
                      <a:srgbClr val="F7F4EE"/>
                    </a:solidFill>
                  </a:tcPr>
                </a:tc>
              </a:tr>
              <a:tr h="457200">
                <a:tc>
                  <a:txBody>
                    <a:bodyPr wrap="square"/>
                    <a:lstStyle/>
                    <a:p>
                      <a:pPr>
                        <a:lnSpc>
                          <a:spcPct val="118000"/>
                        </a:lnSpc>
                      </a:pPr>
                      <a:r>
                        <a:rPr sz="1400" b="1">
                          <a:solidFill>
                            <a:srgbClr val="22201E"/>
                          </a:solidFill>
                          <a:latin typeface="Arial"/>
                        </a:rPr>
                        <a:t>safe</a:t>
                      </a:r>
                    </a:p>
                  </a:txBody>
                  <a:tcPr marL="54864" marR="54864" marT="36576" marB="36576" anchor="ctr">
                    <a:solidFill>
                      <a:srgbClr val="F7F4EE"/>
                    </a:solidFill>
                  </a:tcPr>
                </a:tc>
                <a:tc>
                  <a:txBody>
                    <a:bodyPr wrap="square"/>
                    <a:lstStyle/>
                    <a:p>
                      <a:pPr algn="r">
                        <a:lnSpc>
                          <a:spcPct val="118000"/>
                        </a:lnSpc>
                      </a:pPr>
                      <a:r>
                        <a:rPr sz="1400" b="1">
                          <a:solidFill>
                            <a:srgbClr val="22201E"/>
                          </a:solidFill>
                          <a:latin typeface="Consolas"/>
                        </a:rPr>
                        <a:t>200</a:t>
                      </a:r>
                    </a:p>
                  </a:txBody>
                  <a:tcPr marL="54864" marR="54864" marT="36576" marB="36576" anchor="ctr">
                    <a:solidFill>
                      <a:srgbClr val="F7F4EE"/>
                    </a:solidFill>
                  </a:tcPr>
                </a:tc>
                <a:tc>
                  <a:txBody>
                    <a:bodyPr wrap="square"/>
                    <a:lstStyle/>
                    <a:p>
                      <a:pPr algn="r">
                        <a:lnSpc>
                          <a:spcPct val="118000"/>
                        </a:lnSpc>
                      </a:pPr>
                      <a:r>
                        <a:rPr sz="1400" b="1">
                          <a:solidFill>
                            <a:srgbClr val="22201E"/>
                          </a:solidFill>
                          <a:latin typeface="Consolas"/>
                        </a:rPr>
                        <a:t>546 ms</a:t>
                      </a:r>
                    </a:p>
                  </a:txBody>
                  <a:tcPr marL="54864" marR="54864" marT="36576" marB="36576" anchor="ctr">
                    <a:solidFill>
                      <a:srgbClr val="F7F4EE"/>
                    </a:solidFill>
                  </a:tcPr>
                </a:tc>
                <a:tc>
                  <a:txBody>
                    <a:bodyPr wrap="square"/>
                    <a:lstStyle/>
                    <a:p>
                      <a:pPr algn="r">
                        <a:lnSpc>
                          <a:spcPct val="118000"/>
                        </a:lnSpc>
                      </a:pPr>
                      <a:r>
                        <a:rPr sz="1400" b="1">
                          <a:solidFill>
                            <a:srgbClr val="22201E"/>
                          </a:solidFill>
                          <a:latin typeface="Consolas"/>
                        </a:rPr>
                        <a:t>1</a:t>
                      </a:r>
                    </a:p>
                  </a:txBody>
                  <a:tcPr marL="54864" marR="54864" marT="36576" marB="36576" anchor="ctr">
                    <a:solidFill>
                      <a:srgbClr val="F7F4EE"/>
                    </a:solidFill>
                  </a:tcPr>
                </a:tc>
                <a:tc>
                  <a:txBody>
                    <a:bodyPr wrap="square"/>
                    <a:lstStyle/>
                    <a:p>
                      <a:pPr algn="r">
                        <a:lnSpc>
                          <a:spcPct val="118000"/>
                        </a:lnSpc>
                      </a:pPr>
                      <a:r>
                        <a:rPr sz="1400" b="1">
                          <a:solidFill>
                            <a:srgbClr val="2E6B3E"/>
                          </a:solidFill>
                          <a:latin typeface="Consolas"/>
                        </a:rPr>
                        <a:t>0</a:t>
                      </a:r>
                    </a:p>
                  </a:txBody>
                  <a:tcPr marL="54864" marR="54864" marT="36576" marB="36576" anchor="ctr">
                    <a:solidFill>
                      <a:srgbClr val="F7F4EE"/>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74320"/>
          </a:xfrm>
          <a:prstGeom prst="rect">
            <a:avLst/>
          </a:prstGeom>
          <a:noFill/>
        </p:spPr>
        <p:txBody>
          <a:bodyPr wrap="square" lIns="0" rIns="0" tIns="0" bIns="0">
            <a:spAutoFit/>
          </a:bodyPr>
          <a:lstStyle/>
          <a:p>
            <a:pPr algn="l">
              <a:lnSpc>
                <a:spcPct val="125000"/>
              </a:lnSpc>
              <a:spcAft>
                <a:spcPts val="600"/>
              </a:spcAft>
            </a:pPr>
            <a:r>
              <a:rPr sz="1200" b="1">
                <a:solidFill>
                  <a:srgbClr val="B4512A"/>
                </a:solidFill>
                <a:latin typeface="Arial"/>
              </a:rPr>
              <a:t>BEYOND "IT DOES NOT DOUBLE-BOOK"</a:t>
            </a:r>
          </a:p>
        </p:txBody>
      </p:sp>
      <p:sp>
        <p:nvSpPr>
          <p:cNvPr id="4" name="TextBox 3"/>
          <p:cNvSpPr txBox="1"/>
          <p:nvPr/>
        </p:nvSpPr>
        <p:spPr>
          <a:xfrm>
            <a:off x="658368" y="786384"/>
            <a:ext cx="10874959" cy="914400"/>
          </a:xfrm>
          <a:prstGeom prst="rect">
            <a:avLst/>
          </a:prstGeom>
          <a:noFill/>
        </p:spPr>
        <p:txBody>
          <a:bodyPr wrap="square" lIns="0" rIns="0" tIns="0" bIns="0">
            <a:spAutoFit/>
          </a:bodyPr>
          <a:lstStyle/>
          <a:p>
            <a:pPr algn="l">
              <a:lnSpc>
                <a:spcPct val="102000"/>
              </a:lnSpc>
              <a:spcAft>
                <a:spcPts val="600"/>
              </a:spcAft>
            </a:pPr>
            <a:r>
              <a:rPr sz="3400" b="1">
                <a:solidFill>
                  <a:srgbClr val="22201E"/>
                </a:solidFill>
                <a:latin typeface="Georgia"/>
              </a:rPr>
              <a:t>CORRECTNESS IS THE FLOOR</a:t>
            </a:r>
          </a:p>
        </p:txBody>
      </p:sp>
      <p:sp>
        <p:nvSpPr>
          <p:cNvPr id="5" name="Rectangle 4"/>
          <p:cNvSpPr/>
          <p:nvPr/>
        </p:nvSpPr>
        <p:spPr>
          <a:xfrm>
            <a:off x="658368" y="1572768"/>
            <a:ext cx="822960" cy="38100"/>
          </a:xfrm>
          <a:prstGeom prst="rect">
            <a:avLst/>
          </a:prstGeom>
          <a:solidFill>
            <a:srgbClr val="C29A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291072"/>
            <a:ext cx="10326319" cy="274320"/>
          </a:xfrm>
          <a:prstGeom prst="rect">
            <a:avLst/>
          </a:prstGeom>
          <a:noFill/>
        </p:spPr>
        <p:txBody>
          <a:bodyPr wrap="square" lIns="0" rIns="0" tIns="0" bIns="0">
            <a:spAutoFit/>
          </a:bodyPr>
          <a:lstStyle/>
          <a:p>
            <a:pPr algn="l">
              <a:lnSpc>
                <a:spcPct val="125000"/>
              </a:lnSpc>
              <a:spcAft>
                <a:spcPts val="600"/>
              </a:spcAft>
            </a:pPr>
            <a:r>
              <a:rPr sz="1000" b="0">
                <a:solidFill>
                  <a:srgbClr val="837C73"/>
                </a:solidFill>
                <a:latin typeface="Arial"/>
              </a:rPr>
              <a:t>PLAYHACK · TEAM INNOVAIT</a:t>
            </a:r>
          </a:p>
        </p:txBody>
      </p:sp>
      <p:sp>
        <p:nvSpPr>
          <p:cNvPr id="7" name="TextBox 6"/>
          <p:cNvSpPr txBox="1"/>
          <p:nvPr/>
        </p:nvSpPr>
        <p:spPr>
          <a:xfrm>
            <a:off x="10984687" y="6291072"/>
            <a:ext cx="548640" cy="274320"/>
          </a:xfrm>
          <a:prstGeom prst="rect">
            <a:avLst/>
          </a:prstGeom>
          <a:noFill/>
        </p:spPr>
        <p:txBody>
          <a:bodyPr wrap="square" lIns="0" rIns="0" tIns="0" bIns="0">
            <a:spAutoFit/>
          </a:bodyPr>
          <a:lstStyle/>
          <a:p>
            <a:pPr algn="r">
              <a:lnSpc>
                <a:spcPct val="125000"/>
              </a:lnSpc>
              <a:spcAft>
                <a:spcPts val="600"/>
              </a:spcAft>
            </a:pPr>
            <a:r>
              <a:rPr sz="1000" b="0">
                <a:solidFill>
                  <a:srgbClr val="837C73"/>
                </a:solidFill>
                <a:latin typeface="Arial"/>
              </a:rPr>
              <a:t>08</a:t>
            </a:r>
          </a:p>
        </p:txBody>
      </p:sp>
      <p:sp>
        <p:nvSpPr>
          <p:cNvPr id="8" name="TextBox 7"/>
          <p:cNvSpPr txBox="1"/>
          <p:nvPr/>
        </p:nvSpPr>
        <p:spPr>
          <a:xfrm>
            <a:off x="658368" y="2103120"/>
            <a:ext cx="10874959" cy="731520"/>
          </a:xfrm>
          <a:prstGeom prst="rect">
            <a:avLst/>
          </a:prstGeom>
          <a:noFill/>
        </p:spPr>
        <p:txBody>
          <a:bodyPr wrap="square" lIns="0" rIns="0" tIns="0" bIns="0">
            <a:spAutoFit/>
          </a:bodyPr>
          <a:lstStyle/>
          <a:p>
            <a:pPr algn="l">
              <a:lnSpc>
                <a:spcPct val="130000"/>
              </a:lnSpc>
              <a:spcAft>
                <a:spcPts val="600"/>
              </a:spcAft>
            </a:pPr>
            <a:r>
              <a:rPr sz="1600" b="1">
                <a:solidFill>
                  <a:srgbClr val="22201E"/>
                </a:solidFill>
                <a:latin typeface="Arial"/>
              </a:rPr>
              <a:t>Idempotency keys.</a:t>
            </a:r>
            <a:r>
              <a:rPr sz="1600" b="0">
                <a:solidFill>
                  <a:srgbClr val="55504A"/>
                </a:solidFill>
                <a:latin typeface="Arial"/>
              </a:rPr>
              <a:t> A retried submit returns the original booking. A double-tap on hostel wifi is the common case, not the edge case.</a:t>
            </a:r>
          </a:p>
        </p:txBody>
      </p:sp>
      <p:sp>
        <p:nvSpPr>
          <p:cNvPr id="9" name="TextBox 8"/>
          <p:cNvSpPr txBox="1"/>
          <p:nvPr/>
        </p:nvSpPr>
        <p:spPr>
          <a:xfrm>
            <a:off x="658368" y="2944368"/>
            <a:ext cx="10874959" cy="731520"/>
          </a:xfrm>
          <a:prstGeom prst="rect">
            <a:avLst/>
          </a:prstGeom>
          <a:noFill/>
        </p:spPr>
        <p:txBody>
          <a:bodyPr wrap="square" lIns="0" rIns="0" tIns="0" bIns="0">
            <a:spAutoFit/>
          </a:bodyPr>
          <a:lstStyle/>
          <a:p>
            <a:pPr algn="l">
              <a:lnSpc>
                <a:spcPct val="130000"/>
              </a:lnSpc>
              <a:spcAft>
                <a:spcPts val="600"/>
              </a:spcAft>
            </a:pPr>
            <a:r>
              <a:rPr sz="1600" b="1">
                <a:solidFill>
                  <a:srgbClr val="22201E"/>
                </a:solidFill>
                <a:latin typeface="Arial"/>
              </a:rPr>
              <a:t>Typed rejections.</a:t>
            </a:r>
            <a:r>
              <a:rPr sz="1600" b="0">
                <a:solidFill>
                  <a:srgbClr val="55504A"/>
                </a:solidFill>
                <a:latin typeface="Arial"/>
              </a:rPr>
              <a:t> Losing returns SLOT_TAKEN, QUOTA_EXCEEDED or OVERLAPS_OWN — with three alternative slots and a queue position.</a:t>
            </a:r>
          </a:p>
        </p:txBody>
      </p:sp>
      <p:sp>
        <p:nvSpPr>
          <p:cNvPr id="10" name="TextBox 9"/>
          <p:cNvSpPr txBox="1"/>
          <p:nvPr/>
        </p:nvSpPr>
        <p:spPr>
          <a:xfrm>
            <a:off x="658368" y="3785616"/>
            <a:ext cx="10874959" cy="731520"/>
          </a:xfrm>
          <a:prstGeom prst="rect">
            <a:avLst/>
          </a:prstGeom>
          <a:noFill/>
        </p:spPr>
        <p:txBody>
          <a:bodyPr wrap="square" lIns="0" rIns="0" tIns="0" bIns="0">
            <a:spAutoFit/>
          </a:bodyPr>
          <a:lstStyle/>
          <a:p>
            <a:pPr algn="l">
              <a:lnSpc>
                <a:spcPct val="130000"/>
              </a:lnSpc>
              <a:spcAft>
                <a:spcPts val="600"/>
              </a:spcAft>
            </a:pPr>
            <a:r>
              <a:rPr sz="1600" b="1">
                <a:solidFill>
                  <a:srgbClr val="22201E"/>
                </a:solidFill>
                <a:latin typeface="Arial"/>
              </a:rPr>
              <a:t>Waitlist promotion.</a:t>
            </a:r>
            <a:r>
              <a:rPr sz="1600" b="0">
                <a:solidFill>
                  <a:srgbClr val="55504A"/>
                </a:solidFill>
                <a:latin typeface="Arial"/>
              </a:rPr>
              <a:t> Cancelling frees the slot and offers it to the next student in the same transaction — no window where it is free but unowned.</a:t>
            </a:r>
          </a:p>
        </p:txBody>
      </p:sp>
      <p:sp>
        <p:nvSpPr>
          <p:cNvPr id="11" name="TextBox 10"/>
          <p:cNvSpPr txBox="1"/>
          <p:nvPr/>
        </p:nvSpPr>
        <p:spPr>
          <a:xfrm>
            <a:off x="658368" y="4626864"/>
            <a:ext cx="10874959" cy="731520"/>
          </a:xfrm>
          <a:prstGeom prst="rect">
            <a:avLst/>
          </a:prstGeom>
          <a:noFill/>
        </p:spPr>
        <p:txBody>
          <a:bodyPr wrap="square" lIns="0" rIns="0" tIns="0" bIns="0">
            <a:spAutoFit/>
          </a:bodyPr>
          <a:lstStyle/>
          <a:p>
            <a:pPr algn="l">
              <a:lnSpc>
                <a:spcPct val="130000"/>
              </a:lnSpc>
              <a:spcAft>
                <a:spcPts val="600"/>
              </a:spcAft>
            </a:pPr>
            <a:r>
              <a:rPr sz="1600" b="1">
                <a:solidFill>
                  <a:srgbClr val="22201E"/>
                </a:solidFill>
                <a:latin typeface="Arial"/>
              </a:rPr>
              <a:t>Maintenance closures.</a:t>
            </a:r>
            <a:r>
              <a:rPr sz="1600" b="0">
                <a:solidFill>
                  <a:srgbClr val="55504A"/>
                </a:solidFill>
                <a:latin typeface="Arial"/>
              </a:rPr>
              <a:t> A closure is a booking row. One invariant, two features: a manager cannot close a court out from under a confirmed reservation.</a:t>
            </a:r>
          </a:p>
        </p:txBody>
      </p:sp>
      <p:sp>
        <p:nvSpPr>
          <p:cNvPr id="12" name="TextBox 11"/>
          <p:cNvSpPr txBox="1"/>
          <p:nvPr/>
        </p:nvSpPr>
        <p:spPr>
          <a:xfrm>
            <a:off x="658368" y="5468112"/>
            <a:ext cx="10874959" cy="731520"/>
          </a:xfrm>
          <a:prstGeom prst="rect">
            <a:avLst/>
          </a:prstGeom>
          <a:noFill/>
        </p:spPr>
        <p:txBody>
          <a:bodyPr wrap="square" lIns="0" rIns="0" tIns="0" bIns="0">
            <a:spAutoFit/>
          </a:bodyPr>
          <a:lstStyle/>
          <a:p>
            <a:pPr algn="l">
              <a:lnSpc>
                <a:spcPct val="130000"/>
              </a:lnSpc>
              <a:spcAft>
                <a:spcPts val="600"/>
              </a:spcAft>
            </a:pPr>
            <a:r>
              <a:rPr sz="1600" b="1">
                <a:solidFill>
                  <a:srgbClr val="22201E"/>
                </a:solidFill>
                <a:latin typeface="Arial"/>
              </a:rPr>
              <a:t>Fair draw.</a:t>
            </a:r>
            <a:r>
              <a:rPr sz="1600" b="0">
                <a:solidFill>
                  <a:srgbClr val="55504A"/>
                </a:solidFill>
                <a:latin typeface="Arial"/>
              </a:rPr>
              <a:t> Peak slots go to a seeded, weighted, published lottery. First-come-first-served rewards the best wifi, not the keenest player.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74320"/>
          </a:xfrm>
          <a:prstGeom prst="rect">
            <a:avLst/>
          </a:prstGeom>
          <a:noFill/>
        </p:spPr>
        <p:txBody>
          <a:bodyPr wrap="square" lIns="0" rIns="0" tIns="0" bIns="0">
            <a:spAutoFit/>
          </a:bodyPr>
          <a:lstStyle/>
          <a:p>
            <a:pPr algn="l">
              <a:lnSpc>
                <a:spcPct val="125000"/>
              </a:lnSpc>
              <a:spcAft>
                <a:spcPts val="600"/>
              </a:spcAft>
            </a:pPr>
            <a:r>
              <a:rPr sz="1200" b="1">
                <a:solidFill>
                  <a:srgbClr val="B4512A"/>
                </a:solidFill>
                <a:latin typeface="Arial"/>
              </a:rPr>
              <a:t>KEY FEATURES AND FUNCTIONALITY</a:t>
            </a:r>
          </a:p>
        </p:txBody>
      </p:sp>
      <p:sp>
        <p:nvSpPr>
          <p:cNvPr id="4" name="TextBox 3"/>
          <p:cNvSpPr txBox="1"/>
          <p:nvPr/>
        </p:nvSpPr>
        <p:spPr>
          <a:xfrm>
            <a:off x="658368" y="786384"/>
            <a:ext cx="10874959" cy="914400"/>
          </a:xfrm>
          <a:prstGeom prst="rect">
            <a:avLst/>
          </a:prstGeom>
          <a:noFill/>
        </p:spPr>
        <p:txBody>
          <a:bodyPr wrap="square" lIns="0" rIns="0" tIns="0" bIns="0">
            <a:spAutoFit/>
          </a:bodyPr>
          <a:lstStyle/>
          <a:p>
            <a:pPr algn="l">
              <a:lnSpc>
                <a:spcPct val="102000"/>
              </a:lnSpc>
              <a:spcAft>
                <a:spcPts val="600"/>
              </a:spcAft>
            </a:pPr>
            <a:r>
              <a:rPr sz="3400" b="1">
                <a:solidFill>
                  <a:srgbClr val="22201E"/>
                </a:solidFill>
                <a:latin typeface="Georgia"/>
              </a:rPr>
              <a:t>WHAT THE PRODUCT ACTUALLY DOES</a:t>
            </a:r>
          </a:p>
        </p:txBody>
      </p:sp>
      <p:sp>
        <p:nvSpPr>
          <p:cNvPr id="5" name="Rectangle 4"/>
          <p:cNvSpPr/>
          <p:nvPr/>
        </p:nvSpPr>
        <p:spPr>
          <a:xfrm>
            <a:off x="658368" y="1572768"/>
            <a:ext cx="822960" cy="38100"/>
          </a:xfrm>
          <a:prstGeom prst="rect">
            <a:avLst/>
          </a:prstGeom>
          <a:solidFill>
            <a:srgbClr val="C29A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291072"/>
            <a:ext cx="10326319" cy="274320"/>
          </a:xfrm>
          <a:prstGeom prst="rect">
            <a:avLst/>
          </a:prstGeom>
          <a:noFill/>
        </p:spPr>
        <p:txBody>
          <a:bodyPr wrap="square" lIns="0" rIns="0" tIns="0" bIns="0">
            <a:spAutoFit/>
          </a:bodyPr>
          <a:lstStyle/>
          <a:p>
            <a:pPr algn="l">
              <a:lnSpc>
                <a:spcPct val="125000"/>
              </a:lnSpc>
              <a:spcAft>
                <a:spcPts val="600"/>
              </a:spcAft>
            </a:pPr>
            <a:r>
              <a:rPr sz="1000" b="0">
                <a:solidFill>
                  <a:srgbClr val="837C73"/>
                </a:solidFill>
                <a:latin typeface="Arial"/>
              </a:rPr>
              <a:t>PLAYHACK · TEAM INNOVAIT</a:t>
            </a:r>
          </a:p>
        </p:txBody>
      </p:sp>
      <p:sp>
        <p:nvSpPr>
          <p:cNvPr id="7" name="TextBox 6"/>
          <p:cNvSpPr txBox="1"/>
          <p:nvPr/>
        </p:nvSpPr>
        <p:spPr>
          <a:xfrm>
            <a:off x="10984687" y="6291072"/>
            <a:ext cx="548640" cy="274320"/>
          </a:xfrm>
          <a:prstGeom prst="rect">
            <a:avLst/>
          </a:prstGeom>
          <a:noFill/>
        </p:spPr>
        <p:txBody>
          <a:bodyPr wrap="square" lIns="0" rIns="0" tIns="0" bIns="0">
            <a:spAutoFit/>
          </a:bodyPr>
          <a:lstStyle/>
          <a:p>
            <a:pPr algn="r">
              <a:lnSpc>
                <a:spcPct val="125000"/>
              </a:lnSpc>
              <a:spcAft>
                <a:spcPts val="600"/>
              </a:spcAft>
            </a:pPr>
            <a:r>
              <a:rPr sz="1000" b="0">
                <a:solidFill>
                  <a:srgbClr val="837C73"/>
                </a:solidFill>
                <a:latin typeface="Arial"/>
              </a:rPr>
              <a:t>09</a:t>
            </a:r>
          </a:p>
        </p:txBody>
      </p:sp>
      <p:graphicFrame>
        <p:nvGraphicFramePr>
          <p:cNvPr id="8" name="Table 7"/>
          <p:cNvGraphicFramePr>
            <a:graphicFrameLocks noGrp="1"/>
          </p:cNvGraphicFramePr>
          <p:nvPr/>
        </p:nvGraphicFramePr>
        <p:xfrm>
          <a:off x="658368" y="2011680"/>
          <a:ext cx="10874958" cy="4526280"/>
        </p:xfrm>
        <a:graphic>
          <a:graphicData uri="http://schemas.openxmlformats.org/drawingml/2006/table">
            <a:tbl>
              <a:tblPr firstRow="1" bandRow="1">
                <a:tableStyleId>{5C22544A-7EE6-4342-B048-85BDC9FD1C3A}</a:tableStyleId>
              </a:tblPr>
              <a:tblGrid>
                <a:gridCol w="2609990"/>
                <a:gridCol w="8264968"/>
              </a:tblGrid>
              <a:tr h="502920">
                <a:tc>
                  <a:txBody>
                    <a:bodyPr wrap="square"/>
                    <a:lstStyle/>
                    <a:p>
                      <a:pPr>
                        <a:lnSpc>
                          <a:spcPct val="118000"/>
                        </a:lnSpc>
                      </a:pPr>
                      <a:r>
                        <a:rPr sz="1100" b="1">
                          <a:solidFill>
                            <a:srgbClr val="837C73"/>
                          </a:solidFill>
                          <a:latin typeface="Arial"/>
                        </a:rPr>
                        <a:t>Feature</a:t>
                      </a:r>
                    </a:p>
                  </a:txBody>
                  <a:tcPr marL="54864" marR="54864" marT="36576" marB="36576" anchor="ctr">
                    <a:solidFill>
                      <a:srgbClr val="F7F4EE"/>
                    </a:solidFill>
                  </a:tcPr>
                </a:tc>
                <a:tc>
                  <a:txBody>
                    <a:bodyPr wrap="square"/>
                    <a:lstStyle/>
                    <a:p>
                      <a:pPr>
                        <a:lnSpc>
                          <a:spcPct val="118000"/>
                        </a:lnSpc>
                      </a:pPr>
                      <a:r>
                        <a:rPr sz="1100" b="1">
                          <a:solidFill>
                            <a:srgbClr val="837C73"/>
                          </a:solidFill>
                          <a:latin typeface="Arial"/>
                        </a:rPr>
                        <a:t>Functionality</a:t>
                      </a:r>
                    </a:p>
                  </a:txBody>
                  <a:tcPr marL="54864" marR="54864" marT="36576" marB="36576" anchor="ctr">
                    <a:solidFill>
                      <a:srgbClr val="F7F4EE"/>
                    </a:solidFill>
                  </a:tcPr>
                </a:tc>
              </a:tr>
              <a:tr h="502920">
                <a:tc>
                  <a:txBody>
                    <a:bodyPr wrap="square"/>
                    <a:lstStyle/>
                    <a:p>
                      <a:pPr>
                        <a:lnSpc>
                          <a:spcPct val="118000"/>
                        </a:lnSpc>
                      </a:pPr>
                      <a:r>
                        <a:rPr sz="1300" b="1">
                          <a:solidFill>
                            <a:srgbClr val="22201E"/>
                          </a:solidFill>
                          <a:latin typeface="Arial"/>
                        </a:rPr>
                        <a:t>Availability view</a:t>
                      </a:r>
                    </a:p>
                  </a:txBody>
                  <a:tcPr marL="54864" marR="54864" marT="36576" marB="36576" anchor="ctr">
                    <a:solidFill>
                      <a:srgbClr val="F7F4EE"/>
                    </a:solidFill>
                  </a:tcPr>
                </a:tc>
                <a:tc>
                  <a:txBody>
                    <a:bodyPr wrap="square"/>
                    <a:lstStyle/>
                    <a:p>
                      <a:pPr>
                        <a:lnSpc>
                          <a:spcPct val="118000"/>
                        </a:lnSpc>
                      </a:pPr>
                      <a:r>
                        <a:rPr sz="1300" b="0">
                          <a:solidFill>
                            <a:srgbClr val="55504A"/>
                          </a:solidFill>
                          <a:latin typeface="Arial"/>
                        </a:rPr>
                        <a:t>Twelve facilities with live open, taken and closed counts. Derived from the bookings table per request — never stored, so it cannot drift.</a:t>
                      </a:r>
                    </a:p>
                  </a:txBody>
                  <a:tcPr marL="54864" marR="54864" marT="36576" marB="36576" anchor="ctr">
                    <a:solidFill>
                      <a:srgbClr val="F7F4EE"/>
                    </a:solidFill>
                  </a:tcPr>
                </a:tc>
              </a:tr>
              <a:tr h="502920">
                <a:tc>
                  <a:txBody>
                    <a:bodyPr wrap="square"/>
                    <a:lstStyle/>
                    <a:p>
                      <a:pPr>
                        <a:lnSpc>
                          <a:spcPct val="118000"/>
                        </a:lnSpc>
                      </a:pPr>
                      <a:r>
                        <a:rPr sz="1300" b="1">
                          <a:solidFill>
                            <a:srgbClr val="22201E"/>
                          </a:solidFill>
                          <a:latin typeface="Arial"/>
                        </a:rPr>
                        <a:t>Slot selection</a:t>
                      </a:r>
                    </a:p>
                  </a:txBody>
                  <a:tcPr marL="54864" marR="54864" marT="36576" marB="36576" anchor="ctr">
                    <a:solidFill>
                      <a:srgbClr val="F7F4EE"/>
                    </a:solidFill>
                  </a:tcPr>
                </a:tc>
                <a:tc>
                  <a:txBody>
                    <a:bodyPr wrap="square"/>
                    <a:lstStyle/>
                    <a:p>
                      <a:pPr>
                        <a:lnSpc>
                          <a:spcPct val="118000"/>
                        </a:lnSpc>
                      </a:pPr>
                      <a:r>
                        <a:rPr sz="1300" b="0">
                          <a:solidFill>
                            <a:srgbClr val="55504A"/>
                          </a:solidFill>
                          <a:latin typeface="Arial"/>
                        </a:rPr>
                        <a:t>A day grid per facility on its own timetable, in IST, seven days ahead. Live over Server-Sent Events.</a:t>
                      </a:r>
                    </a:p>
                  </a:txBody>
                  <a:tcPr marL="54864" marR="54864" marT="36576" marB="36576" anchor="ctr">
                    <a:solidFill>
                      <a:srgbClr val="F7F4EE"/>
                    </a:solidFill>
                  </a:tcPr>
                </a:tc>
              </a:tr>
              <a:tr h="502920">
                <a:tc>
                  <a:txBody>
                    <a:bodyPr wrap="square"/>
                    <a:lstStyle/>
                    <a:p>
                      <a:pPr>
                        <a:lnSpc>
                          <a:spcPct val="118000"/>
                        </a:lnSpc>
                      </a:pPr>
                      <a:r>
                        <a:rPr sz="1300" b="1">
                          <a:solidFill>
                            <a:srgbClr val="22201E"/>
                          </a:solidFill>
                          <a:latin typeface="Arial"/>
                        </a:rPr>
                        <a:t>Booking guarantee</a:t>
                      </a:r>
                    </a:p>
                  </a:txBody>
                  <a:tcPr marL="54864" marR="54864" marT="36576" marB="36576" anchor="ctr">
                    <a:solidFill>
                      <a:srgbClr val="F7F4EE"/>
                    </a:solidFill>
                  </a:tcPr>
                </a:tc>
                <a:tc>
                  <a:txBody>
                    <a:bodyPr wrap="square"/>
                    <a:lstStyle/>
                    <a:p>
                      <a:pPr>
                        <a:lnSpc>
                          <a:spcPct val="118000"/>
                        </a:lnSpc>
                      </a:pPr>
                      <a:r>
                        <a:rPr sz="1300" b="0">
                          <a:solidFill>
                            <a:srgbClr val="55504A"/>
                          </a:solidFill>
                          <a:latin typeface="Arial"/>
                        </a:rPr>
                        <a:t>Confirmed by the database or refused by it. Idempotency keys make a retry return the original booking.</a:t>
                      </a:r>
                    </a:p>
                  </a:txBody>
                  <a:tcPr marL="54864" marR="54864" marT="36576" marB="36576" anchor="ctr">
                    <a:solidFill>
                      <a:srgbClr val="F7F4EE"/>
                    </a:solidFill>
                  </a:tcPr>
                </a:tc>
              </a:tr>
              <a:tr h="502920">
                <a:tc>
                  <a:txBody>
                    <a:bodyPr wrap="square"/>
                    <a:lstStyle/>
                    <a:p>
                      <a:pPr>
                        <a:lnSpc>
                          <a:spcPct val="118000"/>
                        </a:lnSpc>
                      </a:pPr>
                      <a:r>
                        <a:rPr sz="1300" b="1">
                          <a:solidFill>
                            <a:srgbClr val="22201E"/>
                          </a:solidFill>
                          <a:latin typeface="Arial"/>
                        </a:rPr>
                        <a:t>Typed rejections</a:t>
                      </a:r>
                    </a:p>
                  </a:txBody>
                  <a:tcPr marL="54864" marR="54864" marT="36576" marB="36576" anchor="ctr">
                    <a:solidFill>
                      <a:srgbClr val="F7F4EE"/>
                    </a:solidFill>
                  </a:tcPr>
                </a:tc>
                <a:tc>
                  <a:txBody>
                    <a:bodyPr wrap="square"/>
                    <a:lstStyle/>
                    <a:p>
                      <a:pPr>
                        <a:lnSpc>
                          <a:spcPct val="118000"/>
                        </a:lnSpc>
                      </a:pPr>
                      <a:r>
                        <a:rPr sz="1300" b="0">
                          <a:solidFill>
                            <a:srgbClr val="55504A"/>
                          </a:solidFill>
                          <a:latin typeface="Arial"/>
                        </a:rPr>
                        <a:t>Each carries a reason, three alternative slots, and a queue position.</a:t>
                      </a:r>
                    </a:p>
                  </a:txBody>
                  <a:tcPr marL="54864" marR="54864" marT="36576" marB="36576" anchor="ctr">
                    <a:solidFill>
                      <a:srgbClr val="F7F4EE"/>
                    </a:solidFill>
                  </a:tcPr>
                </a:tc>
              </a:tr>
              <a:tr h="502920">
                <a:tc>
                  <a:txBody>
                    <a:bodyPr wrap="square"/>
                    <a:lstStyle/>
                    <a:p>
                      <a:pPr>
                        <a:lnSpc>
                          <a:spcPct val="118000"/>
                        </a:lnSpc>
                      </a:pPr>
                      <a:r>
                        <a:rPr sz="1300" b="1">
                          <a:solidFill>
                            <a:srgbClr val="22201E"/>
                          </a:solidFill>
                          <a:latin typeface="Arial"/>
                        </a:rPr>
                        <a:t>Waitlist</a:t>
                      </a:r>
                    </a:p>
                  </a:txBody>
                  <a:tcPr marL="54864" marR="54864" marT="36576" marB="36576" anchor="ctr">
                    <a:solidFill>
                      <a:srgbClr val="F7F4EE"/>
                    </a:solidFill>
                  </a:tcPr>
                </a:tc>
                <a:tc>
                  <a:txBody>
                    <a:bodyPr wrap="square"/>
                    <a:lstStyle/>
                    <a:p>
                      <a:pPr>
                        <a:lnSpc>
                          <a:spcPct val="118000"/>
                        </a:lnSpc>
                      </a:pPr>
                      <a:r>
                        <a:rPr sz="1300" b="0">
                          <a:solidFill>
                            <a:srgbClr val="55504A"/>
                          </a:solidFill>
                          <a:latin typeface="Arial"/>
                        </a:rPr>
                        <a:t>A cancellation offers the slot to the next student in the same transaction, with a claim expiry.</a:t>
                      </a:r>
                    </a:p>
                  </a:txBody>
                  <a:tcPr marL="54864" marR="54864" marT="36576" marB="36576" anchor="ctr">
                    <a:solidFill>
                      <a:srgbClr val="F7F4EE"/>
                    </a:solidFill>
                  </a:tcPr>
                </a:tc>
              </a:tr>
              <a:tr h="502920">
                <a:tc>
                  <a:txBody>
                    <a:bodyPr wrap="square"/>
                    <a:lstStyle/>
                    <a:p>
                      <a:pPr>
                        <a:lnSpc>
                          <a:spcPct val="118000"/>
                        </a:lnSpc>
                      </a:pPr>
                      <a:r>
                        <a:rPr sz="1300" b="1">
                          <a:solidFill>
                            <a:srgbClr val="22201E"/>
                          </a:solidFill>
                          <a:latin typeface="Arial"/>
                        </a:rPr>
                        <a:t>Fair draw</a:t>
                      </a:r>
                    </a:p>
                  </a:txBody>
                  <a:tcPr marL="54864" marR="54864" marT="36576" marB="36576" anchor="ctr">
                    <a:solidFill>
                      <a:srgbClr val="F7F4EE"/>
                    </a:solidFill>
                  </a:tcPr>
                </a:tc>
                <a:tc>
                  <a:txBody>
                    <a:bodyPr wrap="square"/>
                    <a:lstStyle/>
                    <a:p>
                      <a:pPr>
                        <a:lnSpc>
                          <a:spcPct val="118000"/>
                        </a:lnSpc>
                      </a:pPr>
                      <a:r>
                        <a:rPr sz="1300" b="0">
                          <a:solidFill>
                            <a:srgbClr val="55504A"/>
                          </a:solidFill>
                          <a:latin typeface="Arial"/>
                        </a:rPr>
                        <a:t>Peak slots go to a seeded, weighted, published lottery.</a:t>
                      </a:r>
                    </a:p>
                  </a:txBody>
                  <a:tcPr marL="54864" marR="54864" marT="36576" marB="36576" anchor="ctr">
                    <a:solidFill>
                      <a:srgbClr val="F7F4EE"/>
                    </a:solidFill>
                  </a:tcPr>
                </a:tc>
              </a:tr>
              <a:tr h="502920">
                <a:tc>
                  <a:txBody>
                    <a:bodyPr wrap="square"/>
                    <a:lstStyle/>
                    <a:p>
                      <a:pPr>
                        <a:lnSpc>
                          <a:spcPct val="118000"/>
                        </a:lnSpc>
                      </a:pPr>
                      <a:r>
                        <a:rPr sz="1300" b="1">
                          <a:solidFill>
                            <a:srgbClr val="22201E"/>
                          </a:solidFill>
                          <a:latin typeface="Arial"/>
                        </a:rPr>
                        <a:t>Operations console</a:t>
                      </a:r>
                    </a:p>
                  </a:txBody>
                  <a:tcPr marL="54864" marR="54864" marT="36576" marB="36576" anchor="ctr">
                    <a:solidFill>
                      <a:srgbClr val="F7F4EE"/>
                    </a:solidFill>
                  </a:tcPr>
                </a:tc>
                <a:tc>
                  <a:txBody>
                    <a:bodyPr wrap="square"/>
                    <a:lstStyle/>
                    <a:p>
                      <a:pPr>
                        <a:lnSpc>
                          <a:spcPct val="118000"/>
                        </a:lnSpc>
                      </a:pPr>
                      <a:r>
                        <a:rPr sz="1300" b="0">
                          <a:solidFill>
                            <a:srgbClr val="55504A"/>
                          </a:solidFill>
                          <a:latin typeface="Arial"/>
                        </a:rPr>
                        <a:t>Maintenance closures, refused by the same constraint if a student holds that window.</a:t>
                      </a:r>
                    </a:p>
                  </a:txBody>
                  <a:tcPr marL="54864" marR="54864" marT="36576" marB="36576" anchor="ctr">
                    <a:solidFill>
                      <a:srgbClr val="F7F4EE"/>
                    </a:solidFill>
                  </a:tcPr>
                </a:tc>
              </a:tr>
              <a:tr h="502920">
                <a:tc>
                  <a:txBody>
                    <a:bodyPr wrap="square"/>
                    <a:lstStyle/>
                    <a:p>
                      <a:pPr>
                        <a:lnSpc>
                          <a:spcPct val="118000"/>
                        </a:lnSpc>
                      </a:pPr>
                      <a:r>
                        <a:rPr sz="1300" b="1">
                          <a:solidFill>
                            <a:srgbClr val="22201E"/>
                          </a:solidFill>
                          <a:latin typeface="Arial"/>
                        </a:rPr>
                        <a:t>Insights</a:t>
                      </a:r>
                    </a:p>
                  </a:txBody>
                  <a:tcPr marL="54864" marR="54864" marT="36576" marB="36576" anchor="ctr">
                    <a:solidFill>
                      <a:srgbClr val="F7F4EE"/>
                    </a:solidFill>
                  </a:tcPr>
                </a:tc>
                <a:tc>
                  <a:txBody>
                    <a:bodyPr wrap="square"/>
                    <a:lstStyle/>
                    <a:p>
                      <a:pPr>
                        <a:lnSpc>
                          <a:spcPct val="118000"/>
                        </a:lnSpc>
                      </a:pPr>
                      <a:r>
                        <a:rPr sz="1300" b="0">
                          <a:solidFill>
                            <a:srgbClr val="55504A"/>
                          </a:solidFill>
                          <a:latin typeface="Arial"/>
                        </a:rPr>
                        <a:t>Demand by hour, utilisation heatmap, no-show rate, under-used prime slots.</a:t>
                      </a:r>
                    </a:p>
                  </a:txBody>
                  <a:tcPr marL="54864" marR="54864" marT="36576" marB="36576" anchor="ctr">
                    <a:solidFill>
                      <a:srgbClr val="F7F4EE"/>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74320"/>
          </a:xfrm>
          <a:prstGeom prst="rect">
            <a:avLst/>
          </a:prstGeom>
          <a:noFill/>
        </p:spPr>
        <p:txBody>
          <a:bodyPr wrap="square" lIns="0" rIns="0" tIns="0" bIns="0">
            <a:spAutoFit/>
          </a:bodyPr>
          <a:lstStyle/>
          <a:p>
            <a:pPr algn="l">
              <a:lnSpc>
                <a:spcPct val="125000"/>
              </a:lnSpc>
              <a:spcAft>
                <a:spcPts val="600"/>
              </a:spcAft>
            </a:pPr>
            <a:r>
              <a:rPr sz="1200" b="1">
                <a:solidFill>
                  <a:srgbClr val="B4512A"/>
                </a:solidFill>
                <a:latin typeface="Arial"/>
              </a:rPr>
              <a:t>OVERALL USER FLOW</a:t>
            </a:r>
          </a:p>
        </p:txBody>
      </p:sp>
      <p:sp>
        <p:nvSpPr>
          <p:cNvPr id="4" name="TextBox 3"/>
          <p:cNvSpPr txBox="1"/>
          <p:nvPr/>
        </p:nvSpPr>
        <p:spPr>
          <a:xfrm>
            <a:off x="658368" y="786384"/>
            <a:ext cx="10874959" cy="914400"/>
          </a:xfrm>
          <a:prstGeom prst="rect">
            <a:avLst/>
          </a:prstGeom>
          <a:noFill/>
        </p:spPr>
        <p:txBody>
          <a:bodyPr wrap="square" lIns="0" rIns="0" tIns="0" bIns="0">
            <a:spAutoFit/>
          </a:bodyPr>
          <a:lstStyle/>
          <a:p>
            <a:pPr algn="l">
              <a:lnSpc>
                <a:spcPct val="102000"/>
              </a:lnSpc>
              <a:spcAft>
                <a:spcPts val="600"/>
              </a:spcAft>
            </a:pPr>
            <a:r>
              <a:rPr sz="3400" b="1">
                <a:solidFill>
                  <a:srgbClr val="22201E"/>
                </a:solidFill>
                <a:latin typeface="Georgia"/>
              </a:rPr>
              <a:t>FROM DISCOVERY TO CONFIRMATION</a:t>
            </a:r>
          </a:p>
        </p:txBody>
      </p:sp>
      <p:sp>
        <p:nvSpPr>
          <p:cNvPr id="5" name="Rectangle 4"/>
          <p:cNvSpPr/>
          <p:nvPr/>
        </p:nvSpPr>
        <p:spPr>
          <a:xfrm>
            <a:off x="658368" y="1572768"/>
            <a:ext cx="822960" cy="38100"/>
          </a:xfrm>
          <a:prstGeom prst="rect">
            <a:avLst/>
          </a:prstGeom>
          <a:solidFill>
            <a:srgbClr val="C29A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291072"/>
            <a:ext cx="10326319" cy="274320"/>
          </a:xfrm>
          <a:prstGeom prst="rect">
            <a:avLst/>
          </a:prstGeom>
          <a:noFill/>
        </p:spPr>
        <p:txBody>
          <a:bodyPr wrap="square" lIns="0" rIns="0" tIns="0" bIns="0">
            <a:spAutoFit/>
          </a:bodyPr>
          <a:lstStyle/>
          <a:p>
            <a:pPr algn="l">
              <a:lnSpc>
                <a:spcPct val="125000"/>
              </a:lnSpc>
              <a:spcAft>
                <a:spcPts val="600"/>
              </a:spcAft>
            </a:pPr>
            <a:r>
              <a:rPr sz="1000" b="0">
                <a:solidFill>
                  <a:srgbClr val="837C73"/>
                </a:solidFill>
                <a:latin typeface="Arial"/>
              </a:rPr>
              <a:t>MANAGER FLOW: CLOSE A WINDOW → REFUSED IF A STUDENT HOLDS IT → REOPENING IS A STATUS FLIP</a:t>
            </a:r>
          </a:p>
        </p:txBody>
      </p:sp>
      <p:sp>
        <p:nvSpPr>
          <p:cNvPr id="7" name="TextBox 6"/>
          <p:cNvSpPr txBox="1"/>
          <p:nvPr/>
        </p:nvSpPr>
        <p:spPr>
          <a:xfrm>
            <a:off x="10984687" y="6291072"/>
            <a:ext cx="548640" cy="274320"/>
          </a:xfrm>
          <a:prstGeom prst="rect">
            <a:avLst/>
          </a:prstGeom>
          <a:noFill/>
        </p:spPr>
        <p:txBody>
          <a:bodyPr wrap="square" lIns="0" rIns="0" tIns="0" bIns="0">
            <a:spAutoFit/>
          </a:bodyPr>
          <a:lstStyle/>
          <a:p>
            <a:pPr algn="r">
              <a:lnSpc>
                <a:spcPct val="125000"/>
              </a:lnSpc>
              <a:spcAft>
                <a:spcPts val="600"/>
              </a:spcAft>
            </a:pPr>
            <a:r>
              <a:rPr sz="1000" b="0">
                <a:solidFill>
                  <a:srgbClr val="837C73"/>
                </a:solidFill>
                <a:latin typeface="Arial"/>
              </a:rPr>
              <a:t>10</a:t>
            </a:r>
          </a:p>
        </p:txBody>
      </p:sp>
      <p:sp>
        <p:nvSpPr>
          <p:cNvPr id="8" name="Rectangle 7"/>
          <p:cNvSpPr/>
          <p:nvPr/>
        </p:nvSpPr>
        <p:spPr>
          <a:xfrm>
            <a:off x="658368" y="2057400"/>
            <a:ext cx="2174991" cy="1600200"/>
          </a:xfrm>
          <a:prstGeom prst="rect">
            <a:avLst/>
          </a:prstGeom>
          <a:solidFill>
            <a:srgbClr val="FFFFFF"/>
          </a:solidFill>
          <a:ln w="15875">
            <a:solidFill>
              <a:srgbClr val="2220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212848"/>
            <a:ext cx="1882383" cy="228600"/>
          </a:xfrm>
          <a:prstGeom prst="rect">
            <a:avLst/>
          </a:prstGeom>
          <a:noFill/>
        </p:spPr>
        <p:txBody>
          <a:bodyPr wrap="square" lIns="0" rIns="0" tIns="0" bIns="0">
            <a:spAutoFit/>
          </a:bodyPr>
          <a:lstStyle/>
          <a:p>
            <a:pPr algn="l">
              <a:lnSpc>
                <a:spcPct val="125000"/>
              </a:lnSpc>
              <a:spcAft>
                <a:spcPts val="600"/>
              </a:spcAft>
            </a:pPr>
            <a:r>
              <a:rPr sz="1100" b="1">
                <a:solidFill>
                  <a:srgbClr val="B4512A"/>
                </a:solidFill>
                <a:latin typeface="Consolas"/>
              </a:rPr>
              <a:t>01</a:t>
            </a:r>
          </a:p>
        </p:txBody>
      </p:sp>
      <p:sp>
        <p:nvSpPr>
          <p:cNvPr id="10" name="TextBox 9"/>
          <p:cNvSpPr txBox="1"/>
          <p:nvPr/>
        </p:nvSpPr>
        <p:spPr>
          <a:xfrm>
            <a:off x="804672" y="2450592"/>
            <a:ext cx="1882383" cy="274320"/>
          </a:xfrm>
          <a:prstGeom prst="rect">
            <a:avLst/>
          </a:prstGeom>
          <a:noFill/>
        </p:spPr>
        <p:txBody>
          <a:bodyPr wrap="square" lIns="0" rIns="0" tIns="0" bIns="0">
            <a:spAutoFit/>
          </a:bodyPr>
          <a:lstStyle/>
          <a:p>
            <a:pPr algn="l">
              <a:lnSpc>
                <a:spcPct val="125000"/>
              </a:lnSpc>
              <a:spcAft>
                <a:spcPts val="600"/>
              </a:spcAft>
            </a:pPr>
            <a:r>
              <a:rPr sz="1500" b="1">
                <a:solidFill>
                  <a:srgbClr val="22201E"/>
                </a:solidFill>
                <a:latin typeface="Arial"/>
              </a:rPr>
              <a:t>Browse</a:t>
            </a:r>
          </a:p>
        </p:txBody>
      </p:sp>
      <p:sp>
        <p:nvSpPr>
          <p:cNvPr id="11" name="TextBox 10"/>
          <p:cNvSpPr txBox="1"/>
          <p:nvPr/>
        </p:nvSpPr>
        <p:spPr>
          <a:xfrm>
            <a:off x="804672" y="2761488"/>
            <a:ext cx="1882383" cy="868680"/>
          </a:xfrm>
          <a:prstGeom prst="rect">
            <a:avLst/>
          </a:prstGeom>
          <a:noFill/>
        </p:spPr>
        <p:txBody>
          <a:bodyPr wrap="square" lIns="0" rIns="0" tIns="0" bIns="0">
            <a:spAutoFit/>
          </a:bodyPr>
          <a:lstStyle/>
          <a:p>
            <a:pPr algn="l">
              <a:lnSpc>
                <a:spcPct val="120000"/>
              </a:lnSpc>
              <a:spcAft>
                <a:spcPts val="600"/>
              </a:spcAft>
            </a:pPr>
            <a:r>
              <a:rPr sz="1100" b="0">
                <a:solidFill>
                  <a:srgbClr val="55504A"/>
                </a:solidFill>
                <a:latin typeface="Arial"/>
              </a:rPr>
              <a:t>Facilities with live open counts. Filter by sport, pick a day.</a:t>
            </a:r>
          </a:p>
        </p:txBody>
      </p:sp>
      <p:sp>
        <p:nvSpPr>
          <p:cNvPr id="12" name="Rectangle 11"/>
          <p:cNvSpPr/>
          <p:nvPr/>
        </p:nvSpPr>
        <p:spPr>
          <a:xfrm>
            <a:off x="2833359" y="2057400"/>
            <a:ext cx="2174991" cy="1600200"/>
          </a:xfrm>
          <a:prstGeom prst="rect">
            <a:avLst/>
          </a:prstGeom>
          <a:solidFill>
            <a:srgbClr val="FFFFFF"/>
          </a:solidFill>
          <a:ln w="15875">
            <a:solidFill>
              <a:srgbClr val="2220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979663" y="2212848"/>
            <a:ext cx="1882383" cy="228600"/>
          </a:xfrm>
          <a:prstGeom prst="rect">
            <a:avLst/>
          </a:prstGeom>
          <a:noFill/>
        </p:spPr>
        <p:txBody>
          <a:bodyPr wrap="square" lIns="0" rIns="0" tIns="0" bIns="0">
            <a:spAutoFit/>
          </a:bodyPr>
          <a:lstStyle/>
          <a:p>
            <a:pPr algn="l">
              <a:lnSpc>
                <a:spcPct val="125000"/>
              </a:lnSpc>
              <a:spcAft>
                <a:spcPts val="600"/>
              </a:spcAft>
            </a:pPr>
            <a:r>
              <a:rPr sz="1100" b="1">
                <a:solidFill>
                  <a:srgbClr val="B4512A"/>
                </a:solidFill>
                <a:latin typeface="Consolas"/>
              </a:rPr>
              <a:t>02</a:t>
            </a:r>
          </a:p>
        </p:txBody>
      </p:sp>
      <p:sp>
        <p:nvSpPr>
          <p:cNvPr id="14" name="TextBox 13"/>
          <p:cNvSpPr txBox="1"/>
          <p:nvPr/>
        </p:nvSpPr>
        <p:spPr>
          <a:xfrm>
            <a:off x="2979663" y="2450592"/>
            <a:ext cx="1882383" cy="274320"/>
          </a:xfrm>
          <a:prstGeom prst="rect">
            <a:avLst/>
          </a:prstGeom>
          <a:noFill/>
        </p:spPr>
        <p:txBody>
          <a:bodyPr wrap="square" lIns="0" rIns="0" tIns="0" bIns="0">
            <a:spAutoFit/>
          </a:bodyPr>
          <a:lstStyle/>
          <a:p>
            <a:pPr algn="l">
              <a:lnSpc>
                <a:spcPct val="125000"/>
              </a:lnSpc>
              <a:spcAft>
                <a:spcPts val="600"/>
              </a:spcAft>
            </a:pPr>
            <a:r>
              <a:rPr sz="1500" b="1">
                <a:solidFill>
                  <a:srgbClr val="22201E"/>
                </a:solidFill>
                <a:latin typeface="Arial"/>
              </a:rPr>
              <a:t>Inspect</a:t>
            </a:r>
          </a:p>
        </p:txBody>
      </p:sp>
      <p:sp>
        <p:nvSpPr>
          <p:cNvPr id="15" name="TextBox 14"/>
          <p:cNvSpPr txBox="1"/>
          <p:nvPr/>
        </p:nvSpPr>
        <p:spPr>
          <a:xfrm>
            <a:off x="2979663" y="2761488"/>
            <a:ext cx="1882383" cy="868680"/>
          </a:xfrm>
          <a:prstGeom prst="rect">
            <a:avLst/>
          </a:prstGeom>
          <a:noFill/>
        </p:spPr>
        <p:txBody>
          <a:bodyPr wrap="square" lIns="0" rIns="0" tIns="0" bIns="0">
            <a:spAutoFit/>
          </a:bodyPr>
          <a:lstStyle/>
          <a:p>
            <a:pPr algn="l">
              <a:lnSpc>
                <a:spcPct val="120000"/>
              </a:lnSpc>
              <a:spcAft>
                <a:spcPts val="600"/>
              </a:spcAft>
            </a:pPr>
            <a:r>
              <a:rPr sz="1100" b="0">
                <a:solidFill>
                  <a:srgbClr val="55504A"/>
                </a:solidFill>
                <a:latin typeface="Arial"/>
              </a:rPr>
              <a:t>The day grid for one court: open, taken, yours, closed.</a:t>
            </a:r>
          </a:p>
        </p:txBody>
      </p:sp>
      <p:sp>
        <p:nvSpPr>
          <p:cNvPr id="16" name="Rectangle 15"/>
          <p:cNvSpPr/>
          <p:nvPr/>
        </p:nvSpPr>
        <p:spPr>
          <a:xfrm>
            <a:off x="5008351" y="2057400"/>
            <a:ext cx="2174991" cy="1600200"/>
          </a:xfrm>
          <a:prstGeom prst="rect">
            <a:avLst/>
          </a:prstGeom>
          <a:solidFill>
            <a:srgbClr val="FFFFFF"/>
          </a:solidFill>
          <a:ln w="15875">
            <a:solidFill>
              <a:srgbClr val="2220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154655" y="2212848"/>
            <a:ext cx="1882383" cy="228600"/>
          </a:xfrm>
          <a:prstGeom prst="rect">
            <a:avLst/>
          </a:prstGeom>
          <a:noFill/>
        </p:spPr>
        <p:txBody>
          <a:bodyPr wrap="square" lIns="0" rIns="0" tIns="0" bIns="0">
            <a:spAutoFit/>
          </a:bodyPr>
          <a:lstStyle/>
          <a:p>
            <a:pPr algn="l">
              <a:lnSpc>
                <a:spcPct val="125000"/>
              </a:lnSpc>
              <a:spcAft>
                <a:spcPts val="600"/>
              </a:spcAft>
            </a:pPr>
            <a:r>
              <a:rPr sz="1100" b="1">
                <a:solidFill>
                  <a:srgbClr val="B4512A"/>
                </a:solidFill>
                <a:latin typeface="Consolas"/>
              </a:rPr>
              <a:t>03</a:t>
            </a:r>
          </a:p>
        </p:txBody>
      </p:sp>
      <p:sp>
        <p:nvSpPr>
          <p:cNvPr id="18" name="TextBox 17"/>
          <p:cNvSpPr txBox="1"/>
          <p:nvPr/>
        </p:nvSpPr>
        <p:spPr>
          <a:xfrm>
            <a:off x="5154655" y="2450592"/>
            <a:ext cx="1882383" cy="274320"/>
          </a:xfrm>
          <a:prstGeom prst="rect">
            <a:avLst/>
          </a:prstGeom>
          <a:noFill/>
        </p:spPr>
        <p:txBody>
          <a:bodyPr wrap="square" lIns="0" rIns="0" tIns="0" bIns="0">
            <a:spAutoFit/>
          </a:bodyPr>
          <a:lstStyle/>
          <a:p>
            <a:pPr algn="l">
              <a:lnSpc>
                <a:spcPct val="125000"/>
              </a:lnSpc>
              <a:spcAft>
                <a:spcPts val="600"/>
              </a:spcAft>
            </a:pPr>
            <a:r>
              <a:rPr sz="1500" b="1">
                <a:solidFill>
                  <a:srgbClr val="22201E"/>
                </a:solidFill>
                <a:latin typeface="Arial"/>
              </a:rPr>
              <a:t>Select</a:t>
            </a:r>
          </a:p>
        </p:txBody>
      </p:sp>
      <p:sp>
        <p:nvSpPr>
          <p:cNvPr id="19" name="TextBox 18"/>
          <p:cNvSpPr txBox="1"/>
          <p:nvPr/>
        </p:nvSpPr>
        <p:spPr>
          <a:xfrm>
            <a:off x="5154655" y="2761488"/>
            <a:ext cx="1882383" cy="868680"/>
          </a:xfrm>
          <a:prstGeom prst="rect">
            <a:avLst/>
          </a:prstGeom>
          <a:noFill/>
        </p:spPr>
        <p:txBody>
          <a:bodyPr wrap="square" lIns="0" rIns="0" tIns="0" bIns="0">
            <a:spAutoFit/>
          </a:bodyPr>
          <a:lstStyle/>
          <a:p>
            <a:pPr algn="l">
              <a:lnSpc>
                <a:spcPct val="120000"/>
              </a:lnSpc>
              <a:spcAft>
                <a:spcPts val="600"/>
              </a:spcAft>
            </a:pPr>
            <a:r>
              <a:rPr sz="1100" b="0">
                <a:solidFill>
                  <a:srgbClr val="55504A"/>
                </a:solidFill>
                <a:latin typeface="Arial"/>
              </a:rPr>
              <a:t>Tap a slot. The sheet shows party size and the idempotency key.</a:t>
            </a:r>
          </a:p>
        </p:txBody>
      </p:sp>
      <p:sp>
        <p:nvSpPr>
          <p:cNvPr id="20" name="Rectangle 19"/>
          <p:cNvSpPr/>
          <p:nvPr/>
        </p:nvSpPr>
        <p:spPr>
          <a:xfrm>
            <a:off x="7183343" y="2057400"/>
            <a:ext cx="2174991" cy="1600200"/>
          </a:xfrm>
          <a:prstGeom prst="rect">
            <a:avLst/>
          </a:prstGeom>
          <a:solidFill>
            <a:srgbClr val="FFFFFF"/>
          </a:solidFill>
          <a:ln w="15875">
            <a:solidFill>
              <a:srgbClr val="2220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29647" y="2212848"/>
            <a:ext cx="1882383" cy="228600"/>
          </a:xfrm>
          <a:prstGeom prst="rect">
            <a:avLst/>
          </a:prstGeom>
          <a:noFill/>
        </p:spPr>
        <p:txBody>
          <a:bodyPr wrap="square" lIns="0" rIns="0" tIns="0" bIns="0">
            <a:spAutoFit/>
          </a:bodyPr>
          <a:lstStyle/>
          <a:p>
            <a:pPr algn="l">
              <a:lnSpc>
                <a:spcPct val="125000"/>
              </a:lnSpc>
              <a:spcAft>
                <a:spcPts val="600"/>
              </a:spcAft>
            </a:pPr>
            <a:r>
              <a:rPr sz="1100" b="1">
                <a:solidFill>
                  <a:srgbClr val="B4512A"/>
                </a:solidFill>
                <a:latin typeface="Consolas"/>
              </a:rPr>
              <a:t>04</a:t>
            </a:r>
          </a:p>
        </p:txBody>
      </p:sp>
      <p:sp>
        <p:nvSpPr>
          <p:cNvPr id="22" name="TextBox 21"/>
          <p:cNvSpPr txBox="1"/>
          <p:nvPr/>
        </p:nvSpPr>
        <p:spPr>
          <a:xfrm>
            <a:off x="7329647" y="2450592"/>
            <a:ext cx="1882383" cy="274320"/>
          </a:xfrm>
          <a:prstGeom prst="rect">
            <a:avLst/>
          </a:prstGeom>
          <a:noFill/>
        </p:spPr>
        <p:txBody>
          <a:bodyPr wrap="square" lIns="0" rIns="0" tIns="0" bIns="0">
            <a:spAutoFit/>
          </a:bodyPr>
          <a:lstStyle/>
          <a:p>
            <a:pPr algn="l">
              <a:lnSpc>
                <a:spcPct val="125000"/>
              </a:lnSpc>
              <a:spcAft>
                <a:spcPts val="600"/>
              </a:spcAft>
            </a:pPr>
            <a:r>
              <a:rPr sz="1500" b="1">
                <a:solidFill>
                  <a:srgbClr val="22201E"/>
                </a:solidFill>
                <a:latin typeface="Arial"/>
              </a:rPr>
              <a:t>Submit</a:t>
            </a:r>
          </a:p>
        </p:txBody>
      </p:sp>
      <p:sp>
        <p:nvSpPr>
          <p:cNvPr id="23" name="TextBox 22"/>
          <p:cNvSpPr txBox="1"/>
          <p:nvPr/>
        </p:nvSpPr>
        <p:spPr>
          <a:xfrm>
            <a:off x="7329647" y="2761488"/>
            <a:ext cx="1882383" cy="868680"/>
          </a:xfrm>
          <a:prstGeom prst="rect">
            <a:avLst/>
          </a:prstGeom>
          <a:noFill/>
        </p:spPr>
        <p:txBody>
          <a:bodyPr wrap="square" lIns="0" rIns="0" tIns="0" bIns="0">
            <a:spAutoFit/>
          </a:bodyPr>
          <a:lstStyle/>
          <a:p>
            <a:pPr algn="l">
              <a:lnSpc>
                <a:spcPct val="120000"/>
              </a:lnSpc>
              <a:spcAft>
                <a:spcPts val="600"/>
              </a:spcAft>
            </a:pPr>
            <a:r>
              <a:rPr sz="1100" b="0">
                <a:solidFill>
                  <a:srgbClr val="55504A"/>
                </a:solidFill>
                <a:latin typeface="Arial"/>
              </a:rPr>
              <a:t>One constrained INSERT. No availability check on the write path.</a:t>
            </a:r>
          </a:p>
        </p:txBody>
      </p:sp>
      <p:sp>
        <p:nvSpPr>
          <p:cNvPr id="24" name="Rectangle 23"/>
          <p:cNvSpPr/>
          <p:nvPr/>
        </p:nvSpPr>
        <p:spPr>
          <a:xfrm>
            <a:off x="9358335" y="2057400"/>
            <a:ext cx="2174991" cy="1600200"/>
          </a:xfrm>
          <a:prstGeom prst="rect">
            <a:avLst/>
          </a:prstGeom>
          <a:solidFill>
            <a:srgbClr val="FFFFFF"/>
          </a:solidFill>
          <a:ln w="15875">
            <a:solidFill>
              <a:srgbClr val="2220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504639" y="2212848"/>
            <a:ext cx="1882383" cy="228600"/>
          </a:xfrm>
          <a:prstGeom prst="rect">
            <a:avLst/>
          </a:prstGeom>
          <a:noFill/>
        </p:spPr>
        <p:txBody>
          <a:bodyPr wrap="square" lIns="0" rIns="0" tIns="0" bIns="0">
            <a:spAutoFit/>
          </a:bodyPr>
          <a:lstStyle/>
          <a:p>
            <a:pPr algn="l">
              <a:lnSpc>
                <a:spcPct val="125000"/>
              </a:lnSpc>
              <a:spcAft>
                <a:spcPts val="600"/>
              </a:spcAft>
            </a:pPr>
            <a:r>
              <a:rPr sz="1100" b="1">
                <a:solidFill>
                  <a:srgbClr val="B4512A"/>
                </a:solidFill>
                <a:latin typeface="Consolas"/>
              </a:rPr>
              <a:t>05</a:t>
            </a:r>
          </a:p>
        </p:txBody>
      </p:sp>
      <p:sp>
        <p:nvSpPr>
          <p:cNvPr id="26" name="TextBox 25"/>
          <p:cNvSpPr txBox="1"/>
          <p:nvPr/>
        </p:nvSpPr>
        <p:spPr>
          <a:xfrm>
            <a:off x="9504639" y="2450592"/>
            <a:ext cx="1882383" cy="274320"/>
          </a:xfrm>
          <a:prstGeom prst="rect">
            <a:avLst/>
          </a:prstGeom>
          <a:noFill/>
        </p:spPr>
        <p:txBody>
          <a:bodyPr wrap="square" lIns="0" rIns="0" tIns="0" bIns="0">
            <a:spAutoFit/>
          </a:bodyPr>
          <a:lstStyle/>
          <a:p>
            <a:pPr algn="l">
              <a:lnSpc>
                <a:spcPct val="125000"/>
              </a:lnSpc>
              <a:spcAft>
                <a:spcPts val="600"/>
              </a:spcAft>
            </a:pPr>
            <a:r>
              <a:rPr sz="1500" b="1">
                <a:solidFill>
                  <a:srgbClr val="22201E"/>
                </a:solidFill>
                <a:latin typeface="Arial"/>
              </a:rPr>
              <a:t>Decide</a:t>
            </a:r>
          </a:p>
        </p:txBody>
      </p:sp>
      <p:sp>
        <p:nvSpPr>
          <p:cNvPr id="27" name="TextBox 26"/>
          <p:cNvSpPr txBox="1"/>
          <p:nvPr/>
        </p:nvSpPr>
        <p:spPr>
          <a:xfrm>
            <a:off x="9504639" y="2761488"/>
            <a:ext cx="1882383" cy="868680"/>
          </a:xfrm>
          <a:prstGeom prst="rect">
            <a:avLst/>
          </a:prstGeom>
          <a:noFill/>
        </p:spPr>
        <p:txBody>
          <a:bodyPr wrap="square" lIns="0" rIns="0" tIns="0" bIns="0">
            <a:spAutoFit/>
          </a:bodyPr>
          <a:lstStyle/>
          <a:p>
            <a:pPr algn="l">
              <a:lnSpc>
                <a:spcPct val="120000"/>
              </a:lnSpc>
              <a:spcAft>
                <a:spcPts val="600"/>
              </a:spcAft>
            </a:pPr>
            <a:r>
              <a:rPr sz="1100" b="0">
                <a:solidFill>
                  <a:srgbClr val="55504A"/>
                </a:solidFill>
                <a:latin typeface="Arial"/>
              </a:rPr>
              <a:t>Postgres confirms exactly one and refuses every other request.</a:t>
            </a:r>
          </a:p>
        </p:txBody>
      </p:sp>
      <p:sp>
        <p:nvSpPr>
          <p:cNvPr id="28" name="Rectangle 27"/>
          <p:cNvSpPr/>
          <p:nvPr/>
        </p:nvSpPr>
        <p:spPr>
          <a:xfrm>
            <a:off x="658368" y="3977639"/>
            <a:ext cx="50800" cy="1417320"/>
          </a:xfrm>
          <a:prstGeom prst="rect">
            <a:avLst/>
          </a:prstGeom>
          <a:solidFill>
            <a:srgbClr val="2E6B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09168" y="3977639"/>
            <a:ext cx="5249519" cy="1417320"/>
          </a:xfrm>
          <a:prstGeom prst="rect">
            <a:avLst/>
          </a:prstGeom>
          <a:solidFill>
            <a:srgbClr val="F2E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59536" y="4114800"/>
            <a:ext cx="4934559" cy="274320"/>
          </a:xfrm>
          <a:prstGeom prst="rect">
            <a:avLst/>
          </a:prstGeom>
          <a:noFill/>
        </p:spPr>
        <p:txBody>
          <a:bodyPr wrap="square" lIns="0" rIns="0" tIns="0" bIns="0">
            <a:spAutoFit/>
          </a:bodyPr>
          <a:lstStyle/>
          <a:p>
            <a:pPr algn="l">
              <a:lnSpc>
                <a:spcPct val="125000"/>
              </a:lnSpc>
              <a:spcAft>
                <a:spcPts val="600"/>
              </a:spcAft>
            </a:pPr>
            <a:r>
              <a:rPr sz="1300" b="1">
                <a:solidFill>
                  <a:srgbClr val="2E6B3E"/>
                </a:solidFill>
                <a:latin typeface="Arial"/>
              </a:rPr>
              <a:t>WON → 201 CONFIRMED</a:t>
            </a:r>
          </a:p>
        </p:txBody>
      </p:sp>
      <p:sp>
        <p:nvSpPr>
          <p:cNvPr id="31" name="TextBox 30"/>
          <p:cNvSpPr txBox="1"/>
          <p:nvPr/>
        </p:nvSpPr>
        <p:spPr>
          <a:xfrm>
            <a:off x="859536" y="4434840"/>
            <a:ext cx="4934559" cy="914400"/>
          </a:xfrm>
          <a:prstGeom prst="rect">
            <a:avLst/>
          </a:prstGeom>
          <a:noFill/>
        </p:spPr>
        <p:txBody>
          <a:bodyPr wrap="square" lIns="0" rIns="0" tIns="0" bIns="0">
            <a:spAutoFit/>
          </a:bodyPr>
          <a:lstStyle/>
          <a:p>
            <a:pPr algn="l">
              <a:lnSpc>
                <a:spcPct val="130000"/>
              </a:lnSpc>
              <a:spcAft>
                <a:spcPts val="600"/>
              </a:spcAft>
            </a:pPr>
            <a:r>
              <a:rPr sz="1300" b="0">
                <a:solidFill>
                  <a:srgbClr val="55504A"/>
                </a:solidFill>
                <a:latin typeface="Arial"/>
              </a:rPr>
              <a:t>A booking code is issued. It appears in My Bookings and the grid marks the slot as yours, live on every open screen. Cancelling releases it and promotes the waitlist in one transaction.</a:t>
            </a:r>
          </a:p>
        </p:txBody>
      </p:sp>
      <p:sp>
        <p:nvSpPr>
          <p:cNvPr id="32" name="Rectangle 31"/>
          <p:cNvSpPr/>
          <p:nvPr/>
        </p:nvSpPr>
        <p:spPr>
          <a:xfrm>
            <a:off x="6233007" y="3977639"/>
            <a:ext cx="50800" cy="1417320"/>
          </a:xfrm>
          <a:prstGeom prst="rect">
            <a:avLst/>
          </a:prstGeom>
          <a:solidFill>
            <a:srgbClr val="8C2F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83807" y="3977639"/>
            <a:ext cx="5249519" cy="1417320"/>
          </a:xfrm>
          <a:prstGeom prst="rect">
            <a:avLst/>
          </a:prstGeom>
          <a:solidFill>
            <a:srgbClr val="F2E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34175" y="4114800"/>
            <a:ext cx="4934559" cy="274320"/>
          </a:xfrm>
          <a:prstGeom prst="rect">
            <a:avLst/>
          </a:prstGeom>
          <a:noFill/>
        </p:spPr>
        <p:txBody>
          <a:bodyPr wrap="square" lIns="0" rIns="0" tIns="0" bIns="0">
            <a:spAutoFit/>
          </a:bodyPr>
          <a:lstStyle/>
          <a:p>
            <a:pPr algn="l">
              <a:lnSpc>
                <a:spcPct val="125000"/>
              </a:lnSpc>
              <a:spcAft>
                <a:spcPts val="600"/>
              </a:spcAft>
            </a:pPr>
            <a:r>
              <a:rPr sz="1300" b="1">
                <a:solidFill>
                  <a:srgbClr val="8C2F22"/>
                </a:solidFill>
                <a:latin typeface="Arial"/>
              </a:rPr>
              <a:t>LOST → 409 TYPED REJECTION</a:t>
            </a:r>
          </a:p>
        </p:txBody>
      </p:sp>
      <p:sp>
        <p:nvSpPr>
          <p:cNvPr id="35" name="TextBox 34"/>
          <p:cNvSpPr txBox="1"/>
          <p:nvPr/>
        </p:nvSpPr>
        <p:spPr>
          <a:xfrm>
            <a:off x="6434175" y="4434840"/>
            <a:ext cx="4934559" cy="914400"/>
          </a:xfrm>
          <a:prstGeom prst="rect">
            <a:avLst/>
          </a:prstGeom>
          <a:noFill/>
        </p:spPr>
        <p:txBody>
          <a:bodyPr wrap="square" lIns="0" rIns="0" tIns="0" bIns="0">
            <a:spAutoFit/>
          </a:bodyPr>
          <a:lstStyle/>
          <a:p>
            <a:pPr algn="l">
              <a:lnSpc>
                <a:spcPct val="130000"/>
              </a:lnSpc>
              <a:spcAft>
                <a:spcPts val="600"/>
              </a:spcAft>
            </a:pPr>
            <a:r>
              <a:rPr sz="1300" b="0">
                <a:solidFill>
                  <a:srgbClr val="55504A"/>
                </a:solidFill>
                <a:latin typeface="Arial"/>
              </a:rPr>
              <a:t>SQLSTATE 23P01 becomes a reason a student can act on: three alternative slots on the same grid, plus a waitlist place offered automatically when somebody cancels.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74320"/>
          </a:xfrm>
          <a:prstGeom prst="rect">
            <a:avLst/>
          </a:prstGeom>
          <a:noFill/>
        </p:spPr>
        <p:txBody>
          <a:bodyPr wrap="square" lIns="0" rIns="0" tIns="0" bIns="0">
            <a:spAutoFit/>
          </a:bodyPr>
          <a:lstStyle/>
          <a:p>
            <a:pPr algn="l">
              <a:lnSpc>
                <a:spcPct val="125000"/>
              </a:lnSpc>
              <a:spcAft>
                <a:spcPts val="600"/>
              </a:spcAft>
            </a:pPr>
            <a:r>
              <a:rPr sz="1200" b="1">
                <a:solidFill>
                  <a:srgbClr val="B4512A"/>
                </a:solidFill>
                <a:latin typeface="Arial"/>
              </a:rPr>
              <a:t>WIREFRAMES AND UI DESIGN</a:t>
            </a:r>
          </a:p>
        </p:txBody>
      </p:sp>
      <p:sp>
        <p:nvSpPr>
          <p:cNvPr id="4" name="TextBox 3"/>
          <p:cNvSpPr txBox="1"/>
          <p:nvPr/>
        </p:nvSpPr>
        <p:spPr>
          <a:xfrm>
            <a:off x="658368" y="786384"/>
            <a:ext cx="10874959" cy="914400"/>
          </a:xfrm>
          <a:prstGeom prst="rect">
            <a:avLst/>
          </a:prstGeom>
          <a:noFill/>
        </p:spPr>
        <p:txBody>
          <a:bodyPr wrap="square" lIns="0" rIns="0" tIns="0" bIns="0">
            <a:spAutoFit/>
          </a:bodyPr>
          <a:lstStyle/>
          <a:p>
            <a:pPr algn="l">
              <a:lnSpc>
                <a:spcPct val="102000"/>
              </a:lnSpc>
              <a:spcAft>
                <a:spcPts val="600"/>
              </a:spcAft>
            </a:pPr>
            <a:r>
              <a:rPr sz="3400" b="1">
                <a:solidFill>
                  <a:srgbClr val="22201E"/>
                </a:solidFill>
                <a:latin typeface="Georgia"/>
              </a:rPr>
              <a:t>THE SCREENS, AS BUILT</a:t>
            </a:r>
          </a:p>
        </p:txBody>
      </p:sp>
      <p:sp>
        <p:nvSpPr>
          <p:cNvPr id="5" name="Rectangle 4"/>
          <p:cNvSpPr/>
          <p:nvPr/>
        </p:nvSpPr>
        <p:spPr>
          <a:xfrm>
            <a:off x="658368" y="1572768"/>
            <a:ext cx="822960" cy="38100"/>
          </a:xfrm>
          <a:prstGeom prst="rect">
            <a:avLst/>
          </a:prstGeom>
          <a:solidFill>
            <a:srgbClr val="C29A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291072"/>
            <a:ext cx="10326319" cy="274320"/>
          </a:xfrm>
          <a:prstGeom prst="rect">
            <a:avLst/>
          </a:prstGeom>
          <a:noFill/>
        </p:spPr>
        <p:txBody>
          <a:bodyPr wrap="square" lIns="0" rIns="0" tIns="0" bIns="0">
            <a:spAutoFit/>
          </a:bodyPr>
          <a:lstStyle/>
          <a:p>
            <a:pPr algn="l">
              <a:lnSpc>
                <a:spcPct val="125000"/>
              </a:lnSpc>
              <a:spcAft>
                <a:spcPts val="600"/>
              </a:spcAft>
            </a:pPr>
            <a:r>
              <a:rPr sz="1000" b="0">
                <a:solidFill>
                  <a:srgbClr val="837C73"/>
                </a:solidFill>
                <a:latin typeface="Arial"/>
              </a:rPr>
              <a:t>MOBILE FIRST — STUDENTS BOOK FROM PHONES</a:t>
            </a:r>
          </a:p>
        </p:txBody>
      </p:sp>
      <p:sp>
        <p:nvSpPr>
          <p:cNvPr id="7" name="TextBox 6"/>
          <p:cNvSpPr txBox="1"/>
          <p:nvPr/>
        </p:nvSpPr>
        <p:spPr>
          <a:xfrm>
            <a:off x="10984687" y="6291072"/>
            <a:ext cx="548640" cy="274320"/>
          </a:xfrm>
          <a:prstGeom prst="rect">
            <a:avLst/>
          </a:prstGeom>
          <a:noFill/>
        </p:spPr>
        <p:txBody>
          <a:bodyPr wrap="square" lIns="0" rIns="0" tIns="0" bIns="0">
            <a:spAutoFit/>
          </a:bodyPr>
          <a:lstStyle/>
          <a:p>
            <a:pPr algn="r">
              <a:lnSpc>
                <a:spcPct val="125000"/>
              </a:lnSpc>
              <a:spcAft>
                <a:spcPts val="600"/>
              </a:spcAft>
            </a:pPr>
            <a:r>
              <a:rPr sz="1000" b="0">
                <a:solidFill>
                  <a:srgbClr val="837C73"/>
                </a:solidFill>
                <a:latin typeface="Arial"/>
              </a:rPr>
              <a:t>11</a:t>
            </a:r>
          </a:p>
        </p:txBody>
      </p:sp>
      <p:pic>
        <p:nvPicPr>
          <p:cNvPr id="8" name="Picture 7" descr="home.jpg"/>
          <p:cNvPicPr>
            <a:picLocks noChangeAspect="1"/>
          </p:cNvPicPr>
          <p:nvPr/>
        </p:nvPicPr>
        <p:blipFill>
          <a:blip r:embed="rId2"/>
          <a:stretch>
            <a:fillRect/>
          </a:stretch>
        </p:blipFill>
        <p:spPr>
          <a:xfrm>
            <a:off x="658368" y="2057400"/>
            <a:ext cx="2615869" cy="1780245"/>
          </a:xfrm>
          <a:prstGeom prst="rect">
            <a:avLst/>
          </a:prstGeom>
        </p:spPr>
      </p:pic>
      <p:sp>
        <p:nvSpPr>
          <p:cNvPr id="9" name="TextBox 8"/>
          <p:cNvSpPr txBox="1"/>
          <p:nvPr/>
        </p:nvSpPr>
        <p:spPr>
          <a:xfrm>
            <a:off x="658368" y="3703320"/>
            <a:ext cx="2615869" cy="548640"/>
          </a:xfrm>
          <a:prstGeom prst="rect">
            <a:avLst/>
          </a:prstGeom>
          <a:noFill/>
        </p:spPr>
        <p:txBody>
          <a:bodyPr wrap="square" lIns="0" rIns="0" tIns="0" bIns="0">
            <a:spAutoFit/>
          </a:bodyPr>
          <a:lstStyle/>
          <a:p>
            <a:pPr algn="l">
              <a:lnSpc>
                <a:spcPct val="120000"/>
              </a:lnSpc>
              <a:spcAft>
                <a:spcPts val="600"/>
              </a:spcAft>
            </a:pPr>
            <a:r>
              <a:rPr sz="1100" b="0">
                <a:solidFill>
                  <a:srgbClr val="55504A"/>
                </a:solidFill>
                <a:latin typeface="Arial"/>
              </a:rPr>
              <a:t>Browse. Hero, live counts, facility grid.</a:t>
            </a:r>
          </a:p>
        </p:txBody>
      </p:sp>
      <p:pic>
        <p:nvPicPr>
          <p:cNvPr id="10" name="Picture 9" descr="facility.png"/>
          <p:cNvPicPr>
            <a:picLocks noChangeAspect="1"/>
          </p:cNvPicPr>
          <p:nvPr/>
        </p:nvPicPr>
        <p:blipFill>
          <a:blip r:embed="rId3"/>
          <a:stretch>
            <a:fillRect/>
          </a:stretch>
        </p:blipFill>
        <p:spPr>
          <a:xfrm>
            <a:off x="3411397" y="2057400"/>
            <a:ext cx="2615869" cy="1889239"/>
          </a:xfrm>
          <a:prstGeom prst="rect">
            <a:avLst/>
          </a:prstGeom>
        </p:spPr>
      </p:pic>
      <p:sp>
        <p:nvSpPr>
          <p:cNvPr id="11" name="TextBox 10"/>
          <p:cNvSpPr txBox="1"/>
          <p:nvPr/>
        </p:nvSpPr>
        <p:spPr>
          <a:xfrm>
            <a:off x="3411397" y="3703320"/>
            <a:ext cx="2615869" cy="548640"/>
          </a:xfrm>
          <a:prstGeom prst="rect">
            <a:avLst/>
          </a:prstGeom>
          <a:noFill/>
        </p:spPr>
        <p:txBody>
          <a:bodyPr wrap="square" lIns="0" rIns="0" tIns="0" bIns="0">
            <a:spAutoFit/>
          </a:bodyPr>
          <a:lstStyle/>
          <a:p>
            <a:pPr algn="l">
              <a:lnSpc>
                <a:spcPct val="120000"/>
              </a:lnSpc>
              <a:spcAft>
                <a:spcPts val="600"/>
              </a:spcAft>
            </a:pPr>
            <a:r>
              <a:rPr sz="1100" b="0">
                <a:solidFill>
                  <a:srgbClr val="55504A"/>
                </a:solidFill>
                <a:latin typeface="Arial"/>
              </a:rPr>
              <a:t>Slot grid. The day as a fixture table.</a:t>
            </a:r>
          </a:p>
        </p:txBody>
      </p:sp>
      <p:pic>
        <p:nvPicPr>
          <p:cNvPr id="12" name="Picture 11" descr="bookings.png"/>
          <p:cNvPicPr>
            <a:picLocks noChangeAspect="1"/>
          </p:cNvPicPr>
          <p:nvPr/>
        </p:nvPicPr>
        <p:blipFill>
          <a:blip r:embed="rId4"/>
          <a:stretch>
            <a:fillRect/>
          </a:stretch>
        </p:blipFill>
        <p:spPr>
          <a:xfrm>
            <a:off x="6164427" y="2057400"/>
            <a:ext cx="2615869" cy="1634919"/>
          </a:xfrm>
          <a:prstGeom prst="rect">
            <a:avLst/>
          </a:prstGeom>
        </p:spPr>
      </p:pic>
      <p:sp>
        <p:nvSpPr>
          <p:cNvPr id="13" name="TextBox 12"/>
          <p:cNvSpPr txBox="1"/>
          <p:nvPr/>
        </p:nvSpPr>
        <p:spPr>
          <a:xfrm>
            <a:off x="6164427" y="3703320"/>
            <a:ext cx="2615869" cy="548640"/>
          </a:xfrm>
          <a:prstGeom prst="rect">
            <a:avLst/>
          </a:prstGeom>
          <a:noFill/>
        </p:spPr>
        <p:txBody>
          <a:bodyPr wrap="square" lIns="0" rIns="0" tIns="0" bIns="0">
            <a:spAutoFit/>
          </a:bodyPr>
          <a:lstStyle/>
          <a:p>
            <a:pPr algn="l">
              <a:lnSpc>
                <a:spcPct val="120000"/>
              </a:lnSpc>
              <a:spcAft>
                <a:spcPts val="600"/>
              </a:spcAft>
            </a:pPr>
            <a:r>
              <a:rPr sz="1100" b="0">
                <a:solidFill>
                  <a:srgbClr val="55504A"/>
                </a:solidFill>
                <a:latin typeface="Arial"/>
              </a:rPr>
              <a:t>My bookings. Upcoming and history.</a:t>
            </a:r>
          </a:p>
        </p:txBody>
      </p:sp>
      <p:pic>
        <p:nvPicPr>
          <p:cNvPr id="14" name="Picture 13" descr="ops.png"/>
          <p:cNvPicPr>
            <a:picLocks noChangeAspect="1"/>
          </p:cNvPicPr>
          <p:nvPr/>
        </p:nvPicPr>
        <p:blipFill>
          <a:blip r:embed="rId5"/>
          <a:stretch>
            <a:fillRect/>
          </a:stretch>
        </p:blipFill>
        <p:spPr>
          <a:xfrm>
            <a:off x="8917457" y="2057400"/>
            <a:ext cx="2615869" cy="1634919"/>
          </a:xfrm>
          <a:prstGeom prst="rect">
            <a:avLst/>
          </a:prstGeom>
        </p:spPr>
      </p:pic>
      <p:sp>
        <p:nvSpPr>
          <p:cNvPr id="15" name="TextBox 14"/>
          <p:cNvSpPr txBox="1"/>
          <p:nvPr/>
        </p:nvSpPr>
        <p:spPr>
          <a:xfrm>
            <a:off x="8917457" y="3703320"/>
            <a:ext cx="2615869" cy="548640"/>
          </a:xfrm>
          <a:prstGeom prst="rect">
            <a:avLst/>
          </a:prstGeom>
          <a:noFill/>
        </p:spPr>
        <p:txBody>
          <a:bodyPr wrap="square" lIns="0" rIns="0" tIns="0" bIns="0">
            <a:spAutoFit/>
          </a:bodyPr>
          <a:lstStyle/>
          <a:p>
            <a:pPr algn="l">
              <a:lnSpc>
                <a:spcPct val="120000"/>
              </a:lnSpc>
              <a:spcAft>
                <a:spcPts val="600"/>
              </a:spcAft>
            </a:pPr>
            <a:r>
              <a:rPr sz="1100" b="0">
                <a:solidFill>
                  <a:srgbClr val="55504A"/>
                </a:solidFill>
                <a:latin typeface="Arial"/>
              </a:rPr>
              <a:t>Ops. Closures, refused on a clash.</a:t>
            </a:r>
          </a:p>
        </p:txBody>
      </p:sp>
      <p:sp>
        <p:nvSpPr>
          <p:cNvPr id="16" name="TextBox 15"/>
          <p:cNvSpPr txBox="1"/>
          <p:nvPr/>
        </p:nvSpPr>
        <p:spPr>
          <a:xfrm>
            <a:off x="658368" y="4526280"/>
            <a:ext cx="5254599" cy="1005840"/>
          </a:xfrm>
          <a:prstGeom prst="rect">
            <a:avLst/>
          </a:prstGeom>
          <a:noFill/>
        </p:spPr>
        <p:txBody>
          <a:bodyPr wrap="square" lIns="0" rIns="0" tIns="0" bIns="0">
            <a:spAutoFit/>
          </a:bodyPr>
          <a:lstStyle/>
          <a:p>
            <a:pPr algn="l">
              <a:lnSpc>
                <a:spcPct val="135000"/>
              </a:lnSpc>
              <a:spcAft>
                <a:spcPts val="600"/>
              </a:spcAft>
            </a:pPr>
            <a:r>
              <a:rPr sz="1400" b="1">
                <a:solidFill>
                  <a:srgbClr val="22201E"/>
                </a:solidFill>
                <a:latin typeface="Arial"/>
              </a:rPr>
              <a:t>Design system. </a:t>
            </a:r>
            <a:r>
              <a:rPr sz="1400" b="0">
                <a:solidFill>
                  <a:srgbClr val="55504A"/>
                </a:solidFill>
                <a:latin typeface="Arial"/>
              </a:rPr>
              <a:t>No brand hue: charcoal chrome, warm paper, rust for the single action, brass for a hairline. Every saturated colour on screen means something.</a:t>
            </a:r>
          </a:p>
        </p:txBody>
      </p:sp>
      <p:sp>
        <p:nvSpPr>
          <p:cNvPr id="17" name="TextBox 16"/>
          <p:cNvSpPr txBox="1"/>
          <p:nvPr/>
        </p:nvSpPr>
        <p:spPr>
          <a:xfrm>
            <a:off x="6278727" y="4526280"/>
            <a:ext cx="5254599" cy="1005840"/>
          </a:xfrm>
          <a:prstGeom prst="rect">
            <a:avLst/>
          </a:prstGeom>
          <a:noFill/>
        </p:spPr>
        <p:txBody>
          <a:bodyPr wrap="square" lIns="0" rIns="0" tIns="0" bIns="0">
            <a:spAutoFit/>
          </a:bodyPr>
          <a:lstStyle/>
          <a:p>
            <a:pPr algn="l">
              <a:lnSpc>
                <a:spcPct val="135000"/>
              </a:lnSpc>
              <a:spcAft>
                <a:spcPts val="600"/>
              </a:spcAft>
            </a:pPr>
            <a:r>
              <a:rPr sz="1400" b="1">
                <a:solidFill>
                  <a:srgbClr val="22201E"/>
                </a:solidFill>
                <a:latin typeface="Arial"/>
              </a:rPr>
              <a:t>Accessible by construction. </a:t>
            </a:r>
            <a:r>
              <a:rPr sz="1400" b="0">
                <a:solidFill>
                  <a:srgbClr val="55504A"/>
                </a:solidFill>
                <a:latin typeface="Arial"/>
              </a:rPr>
              <a:t>State is carried by fill rather than hue, and availability is stated three ways — dot, word, count. Motion is dropped under prefers-reduced-motion.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74320"/>
          </a:xfrm>
          <a:prstGeom prst="rect">
            <a:avLst/>
          </a:prstGeom>
          <a:noFill/>
        </p:spPr>
        <p:txBody>
          <a:bodyPr wrap="square" lIns="0" rIns="0" tIns="0" bIns="0">
            <a:spAutoFit/>
          </a:bodyPr>
          <a:lstStyle/>
          <a:p>
            <a:pPr algn="l">
              <a:lnSpc>
                <a:spcPct val="125000"/>
              </a:lnSpc>
              <a:spcAft>
                <a:spcPts val="600"/>
              </a:spcAft>
            </a:pPr>
            <a:r>
              <a:rPr sz="1200" b="1">
                <a:solidFill>
                  <a:srgbClr val="B4512A"/>
                </a:solidFill>
                <a:latin typeface="Arial"/>
              </a:rPr>
              <a:t>TECHNOLOGY STACK</a:t>
            </a:r>
          </a:p>
        </p:txBody>
      </p:sp>
      <p:sp>
        <p:nvSpPr>
          <p:cNvPr id="4" name="TextBox 3"/>
          <p:cNvSpPr txBox="1"/>
          <p:nvPr/>
        </p:nvSpPr>
        <p:spPr>
          <a:xfrm>
            <a:off x="658368" y="786384"/>
            <a:ext cx="10874959" cy="914400"/>
          </a:xfrm>
          <a:prstGeom prst="rect">
            <a:avLst/>
          </a:prstGeom>
          <a:noFill/>
        </p:spPr>
        <p:txBody>
          <a:bodyPr wrap="square" lIns="0" rIns="0" tIns="0" bIns="0">
            <a:spAutoFit/>
          </a:bodyPr>
          <a:lstStyle/>
          <a:p>
            <a:pPr algn="l">
              <a:lnSpc>
                <a:spcPct val="102000"/>
              </a:lnSpc>
              <a:spcAft>
                <a:spcPts val="600"/>
              </a:spcAft>
            </a:pPr>
            <a:r>
              <a:rPr sz="3400" b="1">
                <a:solidFill>
                  <a:srgbClr val="22201E"/>
                </a:solidFill>
                <a:latin typeface="Georgia"/>
              </a:rPr>
              <a:t>WHAT IT IS BUILT ON</a:t>
            </a:r>
          </a:p>
        </p:txBody>
      </p:sp>
      <p:sp>
        <p:nvSpPr>
          <p:cNvPr id="5" name="Rectangle 4"/>
          <p:cNvSpPr/>
          <p:nvPr/>
        </p:nvSpPr>
        <p:spPr>
          <a:xfrm>
            <a:off x="658368" y="1572768"/>
            <a:ext cx="822960" cy="38100"/>
          </a:xfrm>
          <a:prstGeom prst="rect">
            <a:avLst/>
          </a:prstGeom>
          <a:solidFill>
            <a:srgbClr val="C29A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291072"/>
            <a:ext cx="10326319" cy="274320"/>
          </a:xfrm>
          <a:prstGeom prst="rect">
            <a:avLst/>
          </a:prstGeom>
          <a:noFill/>
        </p:spPr>
        <p:txBody>
          <a:bodyPr wrap="square" lIns="0" rIns="0" tIns="0" bIns="0">
            <a:spAutoFit/>
          </a:bodyPr>
          <a:lstStyle/>
          <a:p>
            <a:pPr algn="l">
              <a:lnSpc>
                <a:spcPct val="125000"/>
              </a:lnSpc>
              <a:spcAft>
                <a:spcPts val="600"/>
              </a:spcAft>
            </a:pPr>
            <a:r>
              <a:rPr sz="1000" b="0">
                <a:solidFill>
                  <a:srgbClr val="837C73"/>
                </a:solidFill>
                <a:latin typeface="Arial"/>
              </a:rPr>
              <a:t>NO ORM — THE CONSTRAINT IS THE PRODUCT, AND IT IS WRITTEN IN SQL</a:t>
            </a:r>
          </a:p>
        </p:txBody>
      </p:sp>
      <p:sp>
        <p:nvSpPr>
          <p:cNvPr id="7" name="TextBox 6"/>
          <p:cNvSpPr txBox="1"/>
          <p:nvPr/>
        </p:nvSpPr>
        <p:spPr>
          <a:xfrm>
            <a:off x="10984687" y="6291072"/>
            <a:ext cx="548640" cy="274320"/>
          </a:xfrm>
          <a:prstGeom prst="rect">
            <a:avLst/>
          </a:prstGeom>
          <a:noFill/>
        </p:spPr>
        <p:txBody>
          <a:bodyPr wrap="square" lIns="0" rIns="0" tIns="0" bIns="0">
            <a:spAutoFit/>
          </a:bodyPr>
          <a:lstStyle/>
          <a:p>
            <a:pPr algn="r">
              <a:lnSpc>
                <a:spcPct val="125000"/>
              </a:lnSpc>
              <a:spcAft>
                <a:spcPts val="600"/>
              </a:spcAft>
            </a:pPr>
            <a:r>
              <a:rPr sz="1000" b="0">
                <a:solidFill>
                  <a:srgbClr val="837C73"/>
                </a:solidFill>
                <a:latin typeface="Arial"/>
              </a:rPr>
              <a:t>12</a:t>
            </a:r>
          </a:p>
        </p:txBody>
      </p:sp>
      <p:graphicFrame>
        <p:nvGraphicFramePr>
          <p:cNvPr id="8" name="Table 7"/>
          <p:cNvGraphicFramePr>
            <a:graphicFrameLocks noGrp="1"/>
          </p:cNvGraphicFramePr>
          <p:nvPr/>
        </p:nvGraphicFramePr>
        <p:xfrm>
          <a:off x="658368" y="2011680"/>
          <a:ext cx="5163158" cy="3328416"/>
        </p:xfrm>
        <a:graphic>
          <a:graphicData uri="http://schemas.openxmlformats.org/drawingml/2006/table">
            <a:tbl>
              <a:tblPr firstRow="1" bandRow="1">
                <a:tableStyleId>{5C22544A-7EE6-4342-B048-85BDC9FD1C3A}</a:tableStyleId>
              </a:tblPr>
              <a:tblGrid>
                <a:gridCol w="2168526"/>
                <a:gridCol w="2994632"/>
              </a:tblGrid>
              <a:tr h="475488">
                <a:tc>
                  <a:txBody>
                    <a:bodyPr wrap="square"/>
                    <a:lstStyle/>
                    <a:p>
                      <a:pPr>
                        <a:lnSpc>
                          <a:spcPct val="118000"/>
                        </a:lnSpc>
                      </a:pPr>
                      <a:r>
                        <a:rPr sz="1100" b="1">
                          <a:solidFill>
                            <a:srgbClr val="837C73"/>
                          </a:solidFill>
                          <a:latin typeface="Arial"/>
                        </a:rPr>
                        <a:t>Application</a:t>
                      </a:r>
                    </a:p>
                  </a:txBody>
                  <a:tcPr marL="54864" marR="54864" marT="36576" marB="36576" anchor="ctr">
                    <a:solidFill>
                      <a:srgbClr val="F7F4EE"/>
                    </a:solidFill>
                  </a:tcPr>
                </a:tc>
                <a:tc>
                  <a:txBody>
                    <a:bodyPr wrap="square"/>
                    <a:lstStyle/>
                    <a:p>
                      <a:pPr>
                        <a:lnSpc>
                          <a:spcPct val="118000"/>
                        </a:lnSpc>
                      </a:pPr>
                      <a:r>
                        <a:rPr sz="1100" b="1">
                          <a:solidFill>
                            <a:srgbClr val="837C73"/>
                          </a:solidFill>
                          <a:latin typeface="Arial"/>
                        </a:rPr>
                        <a:t/>
                      </a:r>
                    </a:p>
                  </a:txBody>
                  <a:tcPr marL="54864" marR="54864" marT="36576" marB="36576" anchor="ctr">
                    <a:solidFill>
                      <a:srgbClr val="F7F4EE"/>
                    </a:solidFill>
                  </a:tcPr>
                </a:tc>
              </a:tr>
              <a:tr h="475488">
                <a:tc>
                  <a:txBody>
                    <a:bodyPr wrap="square"/>
                    <a:lstStyle/>
                    <a:p>
                      <a:pPr>
                        <a:lnSpc>
                          <a:spcPct val="118000"/>
                        </a:lnSpc>
                      </a:pPr>
                      <a:r>
                        <a:rPr sz="1300" b="1">
                          <a:solidFill>
                            <a:srgbClr val="22201E"/>
                          </a:solidFill>
                          <a:latin typeface="Arial"/>
                        </a:rPr>
                        <a:t>Next.js 15</a:t>
                      </a:r>
                    </a:p>
                  </a:txBody>
                  <a:tcPr marL="54864" marR="54864" marT="36576" marB="36576" anchor="ctr">
                    <a:solidFill>
                      <a:srgbClr val="F7F4EE"/>
                    </a:solidFill>
                  </a:tcPr>
                </a:tc>
                <a:tc>
                  <a:txBody>
                    <a:bodyPr wrap="square"/>
                    <a:lstStyle/>
                    <a:p>
                      <a:pPr>
                        <a:lnSpc>
                          <a:spcPct val="118000"/>
                        </a:lnSpc>
                      </a:pPr>
                      <a:r>
                        <a:rPr sz="1300" b="0">
                          <a:solidFill>
                            <a:srgbClr val="55504A"/>
                          </a:solidFill>
                          <a:latin typeface="Arial"/>
                        </a:rPr>
                        <a:t>App Router, React Server Components</a:t>
                      </a:r>
                    </a:p>
                  </a:txBody>
                  <a:tcPr marL="54864" marR="54864" marT="36576" marB="36576" anchor="ctr">
                    <a:solidFill>
                      <a:srgbClr val="F7F4EE"/>
                    </a:solidFill>
                  </a:tcPr>
                </a:tc>
              </a:tr>
              <a:tr h="475488">
                <a:tc>
                  <a:txBody>
                    <a:bodyPr wrap="square"/>
                    <a:lstStyle/>
                    <a:p>
                      <a:pPr>
                        <a:lnSpc>
                          <a:spcPct val="118000"/>
                        </a:lnSpc>
                      </a:pPr>
                      <a:r>
                        <a:rPr sz="1300" b="1">
                          <a:solidFill>
                            <a:srgbClr val="22201E"/>
                          </a:solidFill>
                          <a:latin typeface="Arial"/>
                        </a:rPr>
                        <a:t>React 19</a:t>
                      </a:r>
                    </a:p>
                  </a:txBody>
                  <a:tcPr marL="54864" marR="54864" marT="36576" marB="36576" anchor="ctr">
                    <a:solidFill>
                      <a:srgbClr val="F7F4EE"/>
                    </a:solidFill>
                  </a:tcPr>
                </a:tc>
                <a:tc>
                  <a:txBody>
                    <a:bodyPr wrap="square"/>
                    <a:lstStyle/>
                    <a:p>
                      <a:pPr>
                        <a:lnSpc>
                          <a:spcPct val="118000"/>
                        </a:lnSpc>
                      </a:pPr>
                      <a:r>
                        <a:rPr sz="1300" b="0">
                          <a:solidFill>
                            <a:srgbClr val="55504A"/>
                          </a:solidFill>
                          <a:latin typeface="Arial"/>
                        </a:rPr>
                        <a:t>UI runtime</a:t>
                      </a:r>
                    </a:p>
                  </a:txBody>
                  <a:tcPr marL="54864" marR="54864" marT="36576" marB="36576" anchor="ctr">
                    <a:solidFill>
                      <a:srgbClr val="F7F4EE"/>
                    </a:solidFill>
                  </a:tcPr>
                </a:tc>
              </a:tr>
              <a:tr h="475488">
                <a:tc>
                  <a:txBody>
                    <a:bodyPr wrap="square"/>
                    <a:lstStyle/>
                    <a:p>
                      <a:pPr>
                        <a:lnSpc>
                          <a:spcPct val="118000"/>
                        </a:lnSpc>
                      </a:pPr>
                      <a:r>
                        <a:rPr sz="1300" b="1">
                          <a:solidFill>
                            <a:srgbClr val="22201E"/>
                          </a:solidFill>
                          <a:latin typeface="Arial"/>
                        </a:rPr>
                        <a:t>TypeScript</a:t>
                      </a:r>
                    </a:p>
                  </a:txBody>
                  <a:tcPr marL="54864" marR="54864" marT="36576" marB="36576" anchor="ctr">
                    <a:solidFill>
                      <a:srgbClr val="F7F4EE"/>
                    </a:solidFill>
                  </a:tcPr>
                </a:tc>
                <a:tc>
                  <a:txBody>
                    <a:bodyPr wrap="square"/>
                    <a:lstStyle/>
                    <a:p>
                      <a:pPr>
                        <a:lnSpc>
                          <a:spcPct val="118000"/>
                        </a:lnSpc>
                      </a:pPr>
                      <a:r>
                        <a:rPr sz="1300" b="0">
                          <a:solidFill>
                            <a:srgbClr val="55504A"/>
                          </a:solidFill>
                          <a:latin typeface="Arial"/>
                        </a:rPr>
                        <a:t>Strict mode</a:t>
                      </a:r>
                    </a:p>
                  </a:txBody>
                  <a:tcPr marL="54864" marR="54864" marT="36576" marB="36576" anchor="ctr">
                    <a:solidFill>
                      <a:srgbClr val="F7F4EE"/>
                    </a:solidFill>
                  </a:tcPr>
                </a:tc>
              </a:tr>
              <a:tr h="475488">
                <a:tc>
                  <a:txBody>
                    <a:bodyPr wrap="square"/>
                    <a:lstStyle/>
                    <a:p>
                      <a:pPr>
                        <a:lnSpc>
                          <a:spcPct val="118000"/>
                        </a:lnSpc>
                      </a:pPr>
                      <a:r>
                        <a:rPr sz="1300" b="1">
                          <a:solidFill>
                            <a:srgbClr val="22201E"/>
                          </a:solidFill>
                          <a:latin typeface="Arial"/>
                        </a:rPr>
                        <a:t>Tailwind CSS v4</a:t>
                      </a:r>
                    </a:p>
                  </a:txBody>
                  <a:tcPr marL="54864" marR="54864" marT="36576" marB="36576" anchor="ctr">
                    <a:solidFill>
                      <a:srgbClr val="F7F4EE"/>
                    </a:solidFill>
                  </a:tcPr>
                </a:tc>
                <a:tc>
                  <a:txBody>
                    <a:bodyPr wrap="square"/>
                    <a:lstStyle/>
                    <a:p>
                      <a:pPr>
                        <a:lnSpc>
                          <a:spcPct val="118000"/>
                        </a:lnSpc>
                      </a:pPr>
                      <a:r>
                        <a:rPr sz="1300" b="0">
                          <a:solidFill>
                            <a:srgbClr val="55504A"/>
                          </a:solidFill>
                          <a:latin typeface="Arial"/>
                        </a:rPr>
                        <a:t>Token layer, no component library</a:t>
                      </a:r>
                    </a:p>
                  </a:txBody>
                  <a:tcPr marL="54864" marR="54864" marT="36576" marB="36576" anchor="ctr">
                    <a:solidFill>
                      <a:srgbClr val="F7F4EE"/>
                    </a:solidFill>
                  </a:tcPr>
                </a:tc>
              </a:tr>
              <a:tr h="475488">
                <a:tc>
                  <a:txBody>
                    <a:bodyPr wrap="square"/>
                    <a:lstStyle/>
                    <a:p>
                      <a:pPr>
                        <a:lnSpc>
                          <a:spcPct val="118000"/>
                        </a:lnSpc>
                      </a:pPr>
                      <a:r>
                        <a:rPr sz="1300" b="1">
                          <a:solidFill>
                            <a:srgbClr val="22201E"/>
                          </a:solidFill>
                          <a:latin typeface="Arial"/>
                        </a:rPr>
                        <a:t>zod</a:t>
                      </a:r>
                    </a:p>
                  </a:txBody>
                  <a:tcPr marL="54864" marR="54864" marT="36576" marB="36576" anchor="ctr">
                    <a:solidFill>
                      <a:srgbClr val="F7F4EE"/>
                    </a:solidFill>
                  </a:tcPr>
                </a:tc>
                <a:tc>
                  <a:txBody>
                    <a:bodyPr wrap="square"/>
                    <a:lstStyle/>
                    <a:p>
                      <a:pPr>
                        <a:lnSpc>
                          <a:spcPct val="118000"/>
                        </a:lnSpc>
                      </a:pPr>
                      <a:r>
                        <a:rPr sz="1300" b="0">
                          <a:solidFill>
                            <a:srgbClr val="55504A"/>
                          </a:solidFill>
                          <a:latin typeface="Arial"/>
                        </a:rPr>
                        <a:t>Validation on every request body</a:t>
                      </a:r>
                    </a:p>
                  </a:txBody>
                  <a:tcPr marL="54864" marR="54864" marT="36576" marB="36576" anchor="ctr">
                    <a:solidFill>
                      <a:srgbClr val="F7F4EE"/>
                    </a:solidFill>
                  </a:tcPr>
                </a:tc>
              </a:tr>
              <a:tr h="475488">
                <a:tc>
                  <a:txBody>
                    <a:bodyPr wrap="square"/>
                    <a:lstStyle/>
                    <a:p>
                      <a:pPr>
                        <a:lnSpc>
                          <a:spcPct val="118000"/>
                        </a:lnSpc>
                      </a:pPr>
                      <a:r>
                        <a:rPr sz="1300" b="1">
                          <a:solidFill>
                            <a:srgbClr val="22201E"/>
                          </a:solidFill>
                          <a:latin typeface="Arial"/>
                        </a:rPr>
                        <a:t>lucide-react / date-fns</a:t>
                      </a:r>
                    </a:p>
                  </a:txBody>
                  <a:tcPr marL="54864" marR="54864" marT="36576" marB="36576" anchor="ctr">
                    <a:solidFill>
                      <a:srgbClr val="F7F4EE"/>
                    </a:solidFill>
                  </a:tcPr>
                </a:tc>
                <a:tc>
                  <a:txBody>
                    <a:bodyPr wrap="square"/>
                    <a:lstStyle/>
                    <a:p>
                      <a:pPr>
                        <a:lnSpc>
                          <a:spcPct val="118000"/>
                        </a:lnSpc>
                      </a:pPr>
                      <a:r>
                        <a:rPr sz="1300" b="0">
                          <a:solidFill>
                            <a:srgbClr val="55504A"/>
                          </a:solidFill>
                          <a:latin typeface="Arial"/>
                        </a:rPr>
                        <a:t>Icons; IST-correct date handling</a:t>
                      </a:r>
                    </a:p>
                  </a:txBody>
                  <a:tcPr marL="54864" marR="54864" marT="36576" marB="36576" anchor="ctr">
                    <a:solidFill>
                      <a:srgbClr val="F7F4EE"/>
                    </a:solidFill>
                  </a:tcPr>
                </a:tc>
              </a:tr>
            </a:tbl>
          </a:graphicData>
        </a:graphic>
      </p:graphicFrame>
      <p:graphicFrame>
        <p:nvGraphicFramePr>
          <p:cNvPr id="9" name="Table 8"/>
          <p:cNvGraphicFramePr>
            <a:graphicFrameLocks noGrp="1"/>
          </p:cNvGraphicFramePr>
          <p:nvPr/>
        </p:nvGraphicFramePr>
        <p:xfrm>
          <a:off x="6370167.5" y="2011680"/>
          <a:ext cx="5163158" cy="3328416"/>
        </p:xfrm>
        <a:graphic>
          <a:graphicData uri="http://schemas.openxmlformats.org/drawingml/2006/table">
            <a:tbl>
              <a:tblPr firstRow="1" bandRow="1">
                <a:tableStyleId>{5C22544A-7EE6-4342-B048-85BDC9FD1C3A}</a:tableStyleId>
              </a:tblPr>
              <a:tblGrid>
                <a:gridCol w="2168526"/>
                <a:gridCol w="2994632"/>
              </a:tblGrid>
              <a:tr h="475488">
                <a:tc>
                  <a:txBody>
                    <a:bodyPr wrap="square"/>
                    <a:lstStyle/>
                    <a:p>
                      <a:pPr>
                        <a:lnSpc>
                          <a:spcPct val="118000"/>
                        </a:lnSpc>
                      </a:pPr>
                      <a:r>
                        <a:rPr sz="1100" b="1">
                          <a:solidFill>
                            <a:srgbClr val="837C73"/>
                          </a:solidFill>
                          <a:latin typeface="Arial"/>
                        </a:rPr>
                        <a:t>Data and platform</a:t>
                      </a:r>
                    </a:p>
                  </a:txBody>
                  <a:tcPr marL="54864" marR="54864" marT="36576" marB="36576" anchor="ctr">
                    <a:solidFill>
                      <a:srgbClr val="F7F4EE"/>
                    </a:solidFill>
                  </a:tcPr>
                </a:tc>
                <a:tc>
                  <a:txBody>
                    <a:bodyPr wrap="square"/>
                    <a:lstStyle/>
                    <a:p>
                      <a:pPr>
                        <a:lnSpc>
                          <a:spcPct val="118000"/>
                        </a:lnSpc>
                      </a:pPr>
                      <a:r>
                        <a:rPr sz="1100" b="1">
                          <a:solidFill>
                            <a:srgbClr val="837C73"/>
                          </a:solidFill>
                          <a:latin typeface="Arial"/>
                        </a:rPr>
                        <a:t/>
                      </a:r>
                    </a:p>
                  </a:txBody>
                  <a:tcPr marL="54864" marR="54864" marT="36576" marB="36576" anchor="ctr">
                    <a:solidFill>
                      <a:srgbClr val="F7F4EE"/>
                    </a:solidFill>
                  </a:tcPr>
                </a:tc>
              </a:tr>
              <a:tr h="475488">
                <a:tc>
                  <a:txBody>
                    <a:bodyPr wrap="square"/>
                    <a:lstStyle/>
                    <a:p>
                      <a:pPr>
                        <a:lnSpc>
                          <a:spcPct val="118000"/>
                        </a:lnSpc>
                      </a:pPr>
                      <a:r>
                        <a:rPr sz="1300" b="1">
                          <a:solidFill>
                            <a:srgbClr val="22201E"/>
                          </a:solidFill>
                          <a:latin typeface="Arial"/>
                        </a:rPr>
                        <a:t>PostgreSQL 17</a:t>
                      </a:r>
                    </a:p>
                  </a:txBody>
                  <a:tcPr marL="54864" marR="54864" marT="36576" marB="36576" anchor="ctr">
                    <a:solidFill>
                      <a:srgbClr val="F7F4EE"/>
                    </a:solidFill>
                  </a:tcPr>
                </a:tc>
                <a:tc>
                  <a:txBody>
                    <a:bodyPr wrap="square"/>
                    <a:lstStyle/>
                    <a:p>
                      <a:pPr>
                        <a:lnSpc>
                          <a:spcPct val="118000"/>
                        </a:lnSpc>
                      </a:pPr>
                      <a:r>
                        <a:rPr sz="1300" b="0">
                          <a:solidFill>
                            <a:srgbClr val="55504A"/>
                          </a:solidFill>
                          <a:latin typeface="Arial"/>
                        </a:rPr>
                        <a:t>Neon, ap-southeast-1</a:t>
                      </a:r>
                    </a:p>
                  </a:txBody>
                  <a:tcPr marL="54864" marR="54864" marT="36576" marB="36576" anchor="ctr">
                    <a:solidFill>
                      <a:srgbClr val="F7F4EE"/>
                    </a:solidFill>
                  </a:tcPr>
                </a:tc>
              </a:tr>
              <a:tr h="475488">
                <a:tc>
                  <a:txBody>
                    <a:bodyPr wrap="square"/>
                    <a:lstStyle/>
                    <a:p>
                      <a:pPr>
                        <a:lnSpc>
                          <a:spcPct val="118000"/>
                        </a:lnSpc>
                      </a:pPr>
                      <a:r>
                        <a:rPr sz="1300" b="1">
                          <a:solidFill>
                            <a:srgbClr val="22201E"/>
                          </a:solidFill>
                          <a:latin typeface="Arial"/>
                        </a:rPr>
                        <a:t>btree_gist</a:t>
                      </a:r>
                    </a:p>
                  </a:txBody>
                  <a:tcPr marL="54864" marR="54864" marT="36576" marB="36576" anchor="ctr">
                    <a:solidFill>
                      <a:srgbClr val="F7F4EE"/>
                    </a:solidFill>
                  </a:tcPr>
                </a:tc>
                <a:tc>
                  <a:txBody>
                    <a:bodyPr wrap="square"/>
                    <a:lstStyle/>
                    <a:p>
                      <a:pPr>
                        <a:lnSpc>
                          <a:spcPct val="118000"/>
                        </a:lnSpc>
                      </a:pPr>
                      <a:r>
                        <a:rPr sz="1300" b="0">
                          <a:solidFill>
                            <a:srgbClr val="55504A"/>
                          </a:solidFill>
                          <a:latin typeface="Arial"/>
                        </a:rPr>
                        <a:t>Extension backing the exclusion constraint</a:t>
                      </a:r>
                    </a:p>
                  </a:txBody>
                  <a:tcPr marL="54864" marR="54864" marT="36576" marB="36576" anchor="ctr">
                    <a:solidFill>
                      <a:srgbClr val="F7F4EE"/>
                    </a:solidFill>
                  </a:tcPr>
                </a:tc>
              </a:tr>
              <a:tr h="475488">
                <a:tc>
                  <a:txBody>
                    <a:bodyPr wrap="square"/>
                    <a:lstStyle/>
                    <a:p>
                      <a:pPr>
                        <a:lnSpc>
                          <a:spcPct val="118000"/>
                        </a:lnSpc>
                      </a:pPr>
                      <a:r>
                        <a:rPr sz="1300" b="1">
                          <a:solidFill>
                            <a:srgbClr val="22201E"/>
                          </a:solidFill>
                          <a:latin typeface="Arial"/>
                        </a:rPr>
                        <a:t>postgres.js</a:t>
                      </a:r>
                    </a:p>
                  </a:txBody>
                  <a:tcPr marL="54864" marR="54864" marT="36576" marB="36576" anchor="ctr">
                    <a:solidFill>
                      <a:srgbClr val="F7F4EE"/>
                    </a:solidFill>
                  </a:tcPr>
                </a:tc>
                <a:tc>
                  <a:txBody>
                    <a:bodyPr wrap="square"/>
                    <a:lstStyle/>
                    <a:p>
                      <a:pPr>
                        <a:lnSpc>
                          <a:spcPct val="118000"/>
                        </a:lnSpc>
                      </a:pPr>
                      <a:r>
                        <a:rPr sz="1300" b="0">
                          <a:solidFill>
                            <a:srgbClr val="55504A"/>
                          </a:solidFill>
                          <a:latin typeface="Arial"/>
                        </a:rPr>
                        <a:t>Driver — tagged templates, bind parameters</a:t>
                      </a:r>
                    </a:p>
                  </a:txBody>
                  <a:tcPr marL="54864" marR="54864" marT="36576" marB="36576" anchor="ctr">
                    <a:solidFill>
                      <a:srgbClr val="F7F4EE"/>
                    </a:solidFill>
                  </a:tcPr>
                </a:tc>
              </a:tr>
              <a:tr h="475488">
                <a:tc>
                  <a:txBody>
                    <a:bodyPr wrap="square"/>
                    <a:lstStyle/>
                    <a:p>
                      <a:pPr>
                        <a:lnSpc>
                          <a:spcPct val="118000"/>
                        </a:lnSpc>
                      </a:pPr>
                      <a:r>
                        <a:rPr sz="1300" b="1">
                          <a:solidFill>
                            <a:srgbClr val="22201E"/>
                          </a:solidFill>
                          <a:latin typeface="Arial"/>
                        </a:rPr>
                        <a:t>Vercel</a:t>
                      </a:r>
                    </a:p>
                  </a:txBody>
                  <a:tcPr marL="54864" marR="54864" marT="36576" marB="36576" anchor="ctr">
                    <a:solidFill>
                      <a:srgbClr val="F7F4EE"/>
                    </a:solidFill>
                  </a:tcPr>
                </a:tc>
                <a:tc>
                  <a:txBody>
                    <a:bodyPr wrap="square"/>
                    <a:lstStyle/>
                    <a:p>
                      <a:pPr>
                        <a:lnSpc>
                          <a:spcPct val="118000"/>
                        </a:lnSpc>
                      </a:pPr>
                      <a:r>
                        <a:rPr sz="1300" b="0">
                          <a:solidFill>
                            <a:srgbClr val="55504A"/>
                          </a:solidFill>
                          <a:latin typeface="Arial"/>
                        </a:rPr>
                        <a:t>Serverless functions, region sin1</a:t>
                      </a:r>
                    </a:p>
                  </a:txBody>
                  <a:tcPr marL="54864" marR="54864" marT="36576" marB="36576" anchor="ctr">
                    <a:solidFill>
                      <a:srgbClr val="F7F4EE"/>
                    </a:solidFill>
                  </a:tcPr>
                </a:tc>
              </a:tr>
              <a:tr h="475488">
                <a:tc>
                  <a:txBody>
                    <a:bodyPr wrap="square"/>
                    <a:lstStyle/>
                    <a:p>
                      <a:pPr>
                        <a:lnSpc>
                          <a:spcPct val="118000"/>
                        </a:lnSpc>
                      </a:pPr>
                      <a:r>
                        <a:rPr sz="1300" b="1">
                          <a:solidFill>
                            <a:srgbClr val="22201E"/>
                          </a:solidFill>
                          <a:latin typeface="Arial"/>
                        </a:rPr>
                        <a:t>Server-Sent Events</a:t>
                      </a:r>
                    </a:p>
                  </a:txBody>
                  <a:tcPr marL="54864" marR="54864" marT="36576" marB="36576" anchor="ctr">
                    <a:solidFill>
                      <a:srgbClr val="F7F4EE"/>
                    </a:solidFill>
                  </a:tcPr>
                </a:tc>
                <a:tc>
                  <a:txBody>
                    <a:bodyPr wrap="square"/>
                    <a:lstStyle/>
                    <a:p>
                      <a:pPr>
                        <a:lnSpc>
                          <a:spcPct val="118000"/>
                        </a:lnSpc>
                      </a:pPr>
                      <a:r>
                        <a:rPr sz="1300" b="0">
                          <a:solidFill>
                            <a:srgbClr val="55504A"/>
                          </a:solidFill>
                          <a:latin typeface="Arial"/>
                        </a:rPr>
                        <a:t>Live availability, native</a:t>
                      </a:r>
                    </a:p>
                  </a:txBody>
                  <a:tcPr marL="54864" marR="54864" marT="36576" marB="36576" anchor="ctr">
                    <a:solidFill>
                      <a:srgbClr val="F7F4EE"/>
                    </a:solidFill>
                  </a:tcPr>
                </a:tc>
              </a:tr>
              <a:tr h="475488">
                <a:tc>
                  <a:txBody>
                    <a:bodyPr wrap="square"/>
                    <a:lstStyle/>
                    <a:p>
                      <a:pPr>
                        <a:lnSpc>
                          <a:spcPct val="118000"/>
                        </a:lnSpc>
                      </a:pPr>
                      <a:r>
                        <a:rPr sz="1300" b="1">
                          <a:solidFill>
                            <a:srgbClr val="22201E"/>
                          </a:solidFill>
                          <a:latin typeface="Arial"/>
                        </a:rPr>
                        <a:t>Vitest / Puppeteer / CI</a:t>
                      </a:r>
                    </a:p>
                  </a:txBody>
                  <a:tcPr marL="54864" marR="54864" marT="36576" marB="36576" anchor="ctr">
                    <a:solidFill>
                      <a:srgbClr val="F7F4EE"/>
                    </a:solidFill>
                  </a:tcPr>
                </a:tc>
                <a:tc>
                  <a:txBody>
                    <a:bodyPr wrap="square"/>
                    <a:lstStyle/>
                    <a:p>
                      <a:pPr>
                        <a:lnSpc>
                          <a:spcPct val="118000"/>
                        </a:lnSpc>
                      </a:pPr>
                      <a:r>
                        <a:rPr sz="1300" b="0">
                          <a:solidFill>
                            <a:srgbClr val="55504A"/>
                          </a:solidFill>
                          <a:latin typeface="Arial"/>
                        </a:rPr>
                        <a:t>19 unit tests, 11 browser checks, real Postgres</a:t>
                      </a:r>
                    </a:p>
                  </a:txBody>
                  <a:tcPr marL="54864" marR="54864" marT="36576" marB="36576" anchor="ctr">
                    <a:solidFill>
                      <a:srgbClr val="F7F4EE"/>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74320"/>
          </a:xfrm>
          <a:prstGeom prst="rect">
            <a:avLst/>
          </a:prstGeom>
          <a:noFill/>
        </p:spPr>
        <p:txBody>
          <a:bodyPr wrap="square" lIns="0" rIns="0" tIns="0" bIns="0">
            <a:spAutoFit/>
          </a:bodyPr>
          <a:lstStyle/>
          <a:p>
            <a:pPr algn="l">
              <a:lnSpc>
                <a:spcPct val="125000"/>
              </a:lnSpc>
              <a:spcAft>
                <a:spcPts val="600"/>
              </a:spcAft>
            </a:pPr>
            <a:r>
              <a:rPr sz="1200" b="1">
                <a:solidFill>
                  <a:srgbClr val="B4512A"/>
                </a:solidFill>
                <a:latin typeface="Arial"/>
              </a:rPr>
              <a:t>THE PRODUCT</a:t>
            </a:r>
          </a:p>
        </p:txBody>
      </p:sp>
      <p:sp>
        <p:nvSpPr>
          <p:cNvPr id="4" name="TextBox 3"/>
          <p:cNvSpPr txBox="1"/>
          <p:nvPr/>
        </p:nvSpPr>
        <p:spPr>
          <a:xfrm>
            <a:off x="658368" y="786384"/>
            <a:ext cx="10874959" cy="914400"/>
          </a:xfrm>
          <a:prstGeom prst="rect">
            <a:avLst/>
          </a:prstGeom>
          <a:noFill/>
        </p:spPr>
        <p:txBody>
          <a:bodyPr wrap="square" lIns="0" rIns="0" tIns="0" bIns="0">
            <a:spAutoFit/>
          </a:bodyPr>
          <a:lstStyle/>
          <a:p>
            <a:pPr algn="l">
              <a:lnSpc>
                <a:spcPct val="102000"/>
              </a:lnSpc>
              <a:spcAft>
                <a:spcPts val="600"/>
              </a:spcAft>
            </a:pPr>
            <a:r>
              <a:rPr sz="3400" b="1">
                <a:solidFill>
                  <a:srgbClr val="22201E"/>
                </a:solidFill>
                <a:latin typeface="Georgia"/>
              </a:rPr>
              <a:t>BUILT FOR A STUDENT ON A PHONE AT 5:58 PM</a:t>
            </a:r>
          </a:p>
        </p:txBody>
      </p:sp>
      <p:sp>
        <p:nvSpPr>
          <p:cNvPr id="5" name="Rectangle 4"/>
          <p:cNvSpPr/>
          <p:nvPr/>
        </p:nvSpPr>
        <p:spPr>
          <a:xfrm>
            <a:off x="658368" y="1572768"/>
            <a:ext cx="822960" cy="38100"/>
          </a:xfrm>
          <a:prstGeom prst="rect">
            <a:avLst/>
          </a:prstGeom>
          <a:solidFill>
            <a:srgbClr val="C29A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291072"/>
            <a:ext cx="10326319" cy="274320"/>
          </a:xfrm>
          <a:prstGeom prst="rect">
            <a:avLst/>
          </a:prstGeom>
          <a:noFill/>
        </p:spPr>
        <p:txBody>
          <a:bodyPr wrap="square" lIns="0" rIns="0" tIns="0" bIns="0">
            <a:spAutoFit/>
          </a:bodyPr>
          <a:lstStyle/>
          <a:p>
            <a:pPr algn="l">
              <a:lnSpc>
                <a:spcPct val="125000"/>
              </a:lnSpc>
              <a:spcAft>
                <a:spcPts val="600"/>
              </a:spcAft>
            </a:pPr>
            <a:r>
              <a:rPr sz="1000" b="0">
                <a:solidFill>
                  <a:srgbClr val="837C73"/>
                </a:solidFill>
                <a:latin typeface="Arial"/>
              </a:rPr>
              <a:t>TWELVE FACILITIES · AVAILABILITY DERIVED, NEVER STORED</a:t>
            </a:r>
          </a:p>
        </p:txBody>
      </p:sp>
      <p:sp>
        <p:nvSpPr>
          <p:cNvPr id="7" name="TextBox 6"/>
          <p:cNvSpPr txBox="1"/>
          <p:nvPr/>
        </p:nvSpPr>
        <p:spPr>
          <a:xfrm>
            <a:off x="10984687" y="6291072"/>
            <a:ext cx="548640" cy="274320"/>
          </a:xfrm>
          <a:prstGeom prst="rect">
            <a:avLst/>
          </a:prstGeom>
          <a:noFill/>
        </p:spPr>
        <p:txBody>
          <a:bodyPr wrap="square" lIns="0" rIns="0" tIns="0" bIns="0">
            <a:spAutoFit/>
          </a:bodyPr>
          <a:lstStyle/>
          <a:p>
            <a:pPr algn="r">
              <a:lnSpc>
                <a:spcPct val="125000"/>
              </a:lnSpc>
              <a:spcAft>
                <a:spcPts val="600"/>
              </a:spcAft>
            </a:pPr>
            <a:r>
              <a:rPr sz="1000" b="0">
                <a:solidFill>
                  <a:srgbClr val="837C73"/>
                </a:solidFill>
                <a:latin typeface="Arial"/>
              </a:rPr>
              <a:t>13</a:t>
            </a:r>
          </a:p>
        </p:txBody>
      </p:sp>
      <p:pic>
        <p:nvPicPr>
          <p:cNvPr id="8" name="Picture 7" descr="facility.png"/>
          <p:cNvPicPr>
            <a:picLocks noChangeAspect="1"/>
          </p:cNvPicPr>
          <p:nvPr/>
        </p:nvPicPr>
        <p:blipFill>
          <a:blip r:embed="rId2"/>
          <a:stretch>
            <a:fillRect/>
          </a:stretch>
        </p:blipFill>
        <p:spPr>
          <a:xfrm>
            <a:off x="658368" y="2103120"/>
            <a:ext cx="3442106" cy="2485966"/>
          </a:xfrm>
          <a:prstGeom prst="rect">
            <a:avLst/>
          </a:prstGeom>
        </p:spPr>
      </p:pic>
      <p:sp>
        <p:nvSpPr>
          <p:cNvPr id="9" name="TextBox 8"/>
          <p:cNvSpPr txBox="1"/>
          <p:nvPr/>
        </p:nvSpPr>
        <p:spPr>
          <a:xfrm>
            <a:off x="658368" y="4343400"/>
            <a:ext cx="3442106" cy="548640"/>
          </a:xfrm>
          <a:prstGeom prst="rect">
            <a:avLst/>
          </a:prstGeom>
          <a:noFill/>
        </p:spPr>
        <p:txBody>
          <a:bodyPr wrap="square" lIns="0" rIns="0" tIns="0" bIns="0">
            <a:spAutoFit/>
          </a:bodyPr>
          <a:lstStyle/>
          <a:p>
            <a:pPr algn="l">
              <a:lnSpc>
                <a:spcPct val="125000"/>
              </a:lnSpc>
              <a:spcAft>
                <a:spcPts val="600"/>
              </a:spcAft>
            </a:pPr>
            <a:r>
              <a:rPr sz="1300" b="0">
                <a:solidFill>
                  <a:srgbClr val="55504A"/>
                </a:solidFill>
                <a:latin typeface="Arial"/>
              </a:rPr>
              <a:t>Booking. The day as a fixture table, live over SSE.</a:t>
            </a:r>
          </a:p>
        </p:txBody>
      </p:sp>
      <p:pic>
        <p:nvPicPr>
          <p:cNvPr id="10" name="Picture 9" descr="fair.png"/>
          <p:cNvPicPr>
            <a:picLocks noChangeAspect="1"/>
          </p:cNvPicPr>
          <p:nvPr/>
        </p:nvPicPr>
        <p:blipFill>
          <a:blip r:embed="rId3"/>
          <a:stretch>
            <a:fillRect/>
          </a:stretch>
        </p:blipFill>
        <p:spPr>
          <a:xfrm>
            <a:off x="4374794" y="2103120"/>
            <a:ext cx="3442106" cy="2151316"/>
          </a:xfrm>
          <a:prstGeom prst="rect">
            <a:avLst/>
          </a:prstGeom>
        </p:spPr>
      </p:pic>
      <p:sp>
        <p:nvSpPr>
          <p:cNvPr id="11" name="TextBox 10"/>
          <p:cNvSpPr txBox="1"/>
          <p:nvPr/>
        </p:nvSpPr>
        <p:spPr>
          <a:xfrm>
            <a:off x="4374794" y="4343400"/>
            <a:ext cx="3442106" cy="548640"/>
          </a:xfrm>
          <a:prstGeom prst="rect">
            <a:avLst/>
          </a:prstGeom>
          <a:noFill/>
        </p:spPr>
        <p:txBody>
          <a:bodyPr wrap="square" lIns="0" rIns="0" tIns="0" bIns="0">
            <a:spAutoFit/>
          </a:bodyPr>
          <a:lstStyle/>
          <a:p>
            <a:pPr algn="l">
              <a:lnSpc>
                <a:spcPct val="125000"/>
              </a:lnSpc>
              <a:spcAft>
                <a:spcPts val="600"/>
              </a:spcAft>
            </a:pPr>
            <a:r>
              <a:rPr sz="1300" b="0">
                <a:solidFill>
                  <a:srgbClr val="55504A"/>
                </a:solidFill>
                <a:latin typeface="Arial"/>
              </a:rPr>
              <a:t>Fair draw. Rules and seed published before the draw.</a:t>
            </a:r>
          </a:p>
        </p:txBody>
      </p:sp>
      <p:pic>
        <p:nvPicPr>
          <p:cNvPr id="12" name="Picture 11" descr="insights.png"/>
          <p:cNvPicPr>
            <a:picLocks noChangeAspect="1"/>
          </p:cNvPicPr>
          <p:nvPr/>
        </p:nvPicPr>
        <p:blipFill>
          <a:blip r:embed="rId4"/>
          <a:stretch>
            <a:fillRect/>
          </a:stretch>
        </p:blipFill>
        <p:spPr>
          <a:xfrm>
            <a:off x="8091220" y="2103120"/>
            <a:ext cx="3442106" cy="2294738"/>
          </a:xfrm>
          <a:prstGeom prst="rect">
            <a:avLst/>
          </a:prstGeom>
        </p:spPr>
      </p:pic>
      <p:sp>
        <p:nvSpPr>
          <p:cNvPr id="13" name="TextBox 12"/>
          <p:cNvSpPr txBox="1"/>
          <p:nvPr/>
        </p:nvSpPr>
        <p:spPr>
          <a:xfrm>
            <a:off x="8091220" y="4343400"/>
            <a:ext cx="3442106" cy="548640"/>
          </a:xfrm>
          <a:prstGeom prst="rect">
            <a:avLst/>
          </a:prstGeom>
          <a:noFill/>
        </p:spPr>
        <p:txBody>
          <a:bodyPr wrap="square" lIns="0" rIns="0" tIns="0" bIns="0">
            <a:spAutoFit/>
          </a:bodyPr>
          <a:lstStyle/>
          <a:p>
            <a:pPr algn="l">
              <a:lnSpc>
                <a:spcPct val="125000"/>
              </a:lnSpc>
              <a:spcAft>
                <a:spcPts val="600"/>
              </a:spcAft>
            </a:pPr>
            <a:r>
              <a:rPr sz="1300" b="0">
                <a:solidFill>
                  <a:srgbClr val="55504A"/>
                </a:solidFill>
                <a:latin typeface="Arial"/>
              </a:rPr>
              <a:t>Insights. Aggregated from the booking table itself.</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74320"/>
          </a:xfrm>
          <a:prstGeom prst="rect">
            <a:avLst/>
          </a:prstGeom>
          <a:noFill/>
        </p:spPr>
        <p:txBody>
          <a:bodyPr wrap="square" lIns="0" rIns="0" tIns="0" bIns="0">
            <a:spAutoFit/>
          </a:bodyPr>
          <a:lstStyle/>
          <a:p>
            <a:pPr algn="l">
              <a:lnSpc>
                <a:spcPct val="125000"/>
              </a:lnSpc>
              <a:spcAft>
                <a:spcPts val="600"/>
              </a:spcAft>
            </a:pPr>
            <a:r>
              <a:rPr sz="1200" b="1">
                <a:solidFill>
                  <a:srgbClr val="B4512A"/>
                </a:solidFill>
                <a:latin typeface="Arial"/>
              </a:rPr>
              <a:t>VERIFIED, NOT ASSERTED</a:t>
            </a:r>
          </a:p>
        </p:txBody>
      </p:sp>
      <p:sp>
        <p:nvSpPr>
          <p:cNvPr id="4" name="TextBox 3"/>
          <p:cNvSpPr txBox="1"/>
          <p:nvPr/>
        </p:nvSpPr>
        <p:spPr>
          <a:xfrm>
            <a:off x="658368" y="786384"/>
            <a:ext cx="10874959" cy="914400"/>
          </a:xfrm>
          <a:prstGeom prst="rect">
            <a:avLst/>
          </a:prstGeom>
          <a:noFill/>
        </p:spPr>
        <p:txBody>
          <a:bodyPr wrap="square" lIns="0" rIns="0" tIns="0" bIns="0">
            <a:spAutoFit/>
          </a:bodyPr>
          <a:lstStyle/>
          <a:p>
            <a:pPr algn="l">
              <a:lnSpc>
                <a:spcPct val="102000"/>
              </a:lnSpc>
              <a:spcAft>
                <a:spcPts val="600"/>
              </a:spcAft>
            </a:pPr>
            <a:r>
              <a:rPr sz="3400" b="1">
                <a:solidFill>
                  <a:srgbClr val="22201E"/>
                </a:solidFill>
                <a:latin typeface="Georgia"/>
              </a:rPr>
              <a:t>EVERY CLAIM IS REPRODUCIBLE</a:t>
            </a:r>
          </a:p>
        </p:txBody>
      </p:sp>
      <p:sp>
        <p:nvSpPr>
          <p:cNvPr id="5" name="Rectangle 4"/>
          <p:cNvSpPr/>
          <p:nvPr/>
        </p:nvSpPr>
        <p:spPr>
          <a:xfrm>
            <a:off x="658368" y="1572768"/>
            <a:ext cx="822960" cy="38100"/>
          </a:xfrm>
          <a:prstGeom prst="rect">
            <a:avLst/>
          </a:prstGeom>
          <a:solidFill>
            <a:srgbClr val="C29A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291072"/>
            <a:ext cx="10326319" cy="274320"/>
          </a:xfrm>
          <a:prstGeom prst="rect">
            <a:avLst/>
          </a:prstGeom>
          <a:noFill/>
        </p:spPr>
        <p:txBody>
          <a:bodyPr wrap="square" lIns="0" rIns="0" tIns="0" bIns="0">
            <a:spAutoFit/>
          </a:bodyPr>
          <a:lstStyle/>
          <a:p>
            <a:pPr algn="l">
              <a:lnSpc>
                <a:spcPct val="125000"/>
              </a:lnSpc>
              <a:spcAft>
                <a:spcPts val="600"/>
              </a:spcAft>
            </a:pPr>
            <a:r>
              <a:rPr sz="1000" b="0">
                <a:solidFill>
                  <a:srgbClr val="837C73"/>
                </a:solidFill>
                <a:latin typeface="Arial"/>
              </a:rPr>
              <a:t>PLAYHACK · TEAM INNOVAIT</a:t>
            </a:r>
          </a:p>
        </p:txBody>
      </p:sp>
      <p:sp>
        <p:nvSpPr>
          <p:cNvPr id="7" name="TextBox 6"/>
          <p:cNvSpPr txBox="1"/>
          <p:nvPr/>
        </p:nvSpPr>
        <p:spPr>
          <a:xfrm>
            <a:off x="10984687" y="6291072"/>
            <a:ext cx="548640" cy="274320"/>
          </a:xfrm>
          <a:prstGeom prst="rect">
            <a:avLst/>
          </a:prstGeom>
          <a:noFill/>
        </p:spPr>
        <p:txBody>
          <a:bodyPr wrap="square" lIns="0" rIns="0" tIns="0" bIns="0">
            <a:spAutoFit/>
          </a:bodyPr>
          <a:lstStyle/>
          <a:p>
            <a:pPr algn="r">
              <a:lnSpc>
                <a:spcPct val="125000"/>
              </a:lnSpc>
              <a:spcAft>
                <a:spcPts val="600"/>
              </a:spcAft>
            </a:pPr>
            <a:r>
              <a:rPr sz="1000" b="0">
                <a:solidFill>
                  <a:srgbClr val="837C73"/>
                </a:solidFill>
                <a:latin typeface="Arial"/>
              </a:rPr>
              <a:t>14</a:t>
            </a:r>
          </a:p>
        </p:txBody>
      </p:sp>
      <p:sp>
        <p:nvSpPr>
          <p:cNvPr id="8" name="TextBox 7"/>
          <p:cNvSpPr txBox="1"/>
          <p:nvPr/>
        </p:nvSpPr>
        <p:spPr>
          <a:xfrm>
            <a:off x="658368" y="2194560"/>
            <a:ext cx="3108960" cy="731520"/>
          </a:xfrm>
          <a:prstGeom prst="rect">
            <a:avLst/>
          </a:prstGeom>
          <a:noFill/>
        </p:spPr>
        <p:txBody>
          <a:bodyPr wrap="square" lIns="0" rIns="0" tIns="0" bIns="0">
            <a:spAutoFit/>
          </a:bodyPr>
          <a:lstStyle/>
          <a:p>
            <a:pPr algn="l">
              <a:lnSpc>
                <a:spcPct val="125000"/>
              </a:lnSpc>
              <a:spcAft>
                <a:spcPts val="600"/>
              </a:spcAft>
            </a:pPr>
            <a:r>
              <a:rPr sz="4400" b="1">
                <a:solidFill>
                  <a:srgbClr val="2E6B3E"/>
                </a:solidFill>
                <a:latin typeface="Consolas"/>
              </a:rPr>
              <a:t>11/11</a:t>
            </a:r>
          </a:p>
        </p:txBody>
      </p:sp>
      <p:sp>
        <p:nvSpPr>
          <p:cNvPr id="9" name="TextBox 8"/>
          <p:cNvSpPr txBox="1"/>
          <p:nvPr/>
        </p:nvSpPr>
        <p:spPr>
          <a:xfrm>
            <a:off x="658368" y="2907792"/>
            <a:ext cx="3108960" cy="822960"/>
          </a:xfrm>
          <a:prstGeom prst="rect">
            <a:avLst/>
          </a:prstGeom>
          <a:noFill/>
        </p:spPr>
        <p:txBody>
          <a:bodyPr wrap="square" lIns="0" rIns="0" tIns="0" bIns="0">
            <a:spAutoFit/>
          </a:bodyPr>
          <a:lstStyle/>
          <a:p>
            <a:pPr algn="l">
              <a:lnSpc>
                <a:spcPct val="120000"/>
              </a:lnSpc>
              <a:spcAft>
                <a:spcPts val="600"/>
              </a:spcAft>
            </a:pPr>
            <a:r>
              <a:rPr sz="1400" b="0">
                <a:solidFill>
                  <a:srgbClr val="55504A"/>
                </a:solidFill>
                <a:latin typeface="Arial"/>
              </a:rPr>
              <a:t>browser journey against production — book, confirm, cancel, slot returns</a:t>
            </a:r>
          </a:p>
        </p:txBody>
      </p:sp>
      <p:sp>
        <p:nvSpPr>
          <p:cNvPr id="10" name="TextBox 9"/>
          <p:cNvSpPr txBox="1"/>
          <p:nvPr/>
        </p:nvSpPr>
        <p:spPr>
          <a:xfrm>
            <a:off x="658368" y="3566160"/>
            <a:ext cx="3108960" cy="731520"/>
          </a:xfrm>
          <a:prstGeom prst="rect">
            <a:avLst/>
          </a:prstGeom>
          <a:noFill/>
        </p:spPr>
        <p:txBody>
          <a:bodyPr wrap="square" lIns="0" rIns="0" tIns="0" bIns="0">
            <a:spAutoFit/>
          </a:bodyPr>
          <a:lstStyle/>
          <a:p>
            <a:pPr algn="l">
              <a:lnSpc>
                <a:spcPct val="125000"/>
              </a:lnSpc>
              <a:spcAft>
                <a:spcPts val="600"/>
              </a:spcAft>
            </a:pPr>
            <a:r>
              <a:rPr sz="4400" b="1">
                <a:solidFill>
                  <a:srgbClr val="2E6B3E"/>
                </a:solidFill>
                <a:latin typeface="Consolas"/>
              </a:rPr>
              <a:t>19</a:t>
            </a:r>
          </a:p>
        </p:txBody>
      </p:sp>
      <p:sp>
        <p:nvSpPr>
          <p:cNvPr id="11" name="TextBox 10"/>
          <p:cNvSpPr txBox="1"/>
          <p:nvPr/>
        </p:nvSpPr>
        <p:spPr>
          <a:xfrm>
            <a:off x="658368" y="4279392"/>
            <a:ext cx="3108960" cy="822960"/>
          </a:xfrm>
          <a:prstGeom prst="rect">
            <a:avLst/>
          </a:prstGeom>
          <a:noFill/>
        </p:spPr>
        <p:txBody>
          <a:bodyPr wrap="square" lIns="0" rIns="0" tIns="0" bIns="0">
            <a:spAutoFit/>
          </a:bodyPr>
          <a:lstStyle/>
          <a:p>
            <a:pPr algn="l">
              <a:lnSpc>
                <a:spcPct val="120000"/>
              </a:lnSpc>
              <a:spcAft>
                <a:spcPts val="600"/>
              </a:spcAft>
            </a:pPr>
            <a:r>
              <a:rPr sz="1400" b="0">
                <a:solidFill>
                  <a:srgbClr val="55504A"/>
                </a:solidFill>
                <a:latin typeface="Arial"/>
              </a:rPr>
              <a:t>unit tests, run in CI against a real Postgres 17</a:t>
            </a:r>
          </a:p>
        </p:txBody>
      </p:sp>
      <p:sp>
        <p:nvSpPr>
          <p:cNvPr id="12" name="TextBox 11"/>
          <p:cNvSpPr txBox="1"/>
          <p:nvPr/>
        </p:nvSpPr>
        <p:spPr>
          <a:xfrm>
            <a:off x="658368" y="4937760"/>
            <a:ext cx="3108960" cy="731520"/>
          </a:xfrm>
          <a:prstGeom prst="rect">
            <a:avLst/>
          </a:prstGeom>
          <a:noFill/>
        </p:spPr>
        <p:txBody>
          <a:bodyPr wrap="square" lIns="0" rIns="0" tIns="0" bIns="0">
            <a:spAutoFit/>
          </a:bodyPr>
          <a:lstStyle/>
          <a:p>
            <a:pPr algn="l">
              <a:lnSpc>
                <a:spcPct val="125000"/>
              </a:lnSpc>
              <a:spcAft>
                <a:spcPts val="600"/>
              </a:spcAft>
            </a:pPr>
            <a:r>
              <a:rPr sz="4400" b="1">
                <a:solidFill>
                  <a:srgbClr val="2E6B3E"/>
                </a:solidFill>
                <a:latin typeface="Consolas"/>
              </a:rPr>
              <a:t>0</a:t>
            </a:r>
          </a:p>
        </p:txBody>
      </p:sp>
      <p:sp>
        <p:nvSpPr>
          <p:cNvPr id="13" name="TextBox 12"/>
          <p:cNvSpPr txBox="1"/>
          <p:nvPr/>
        </p:nvSpPr>
        <p:spPr>
          <a:xfrm>
            <a:off x="658368" y="5650992"/>
            <a:ext cx="3108960" cy="822960"/>
          </a:xfrm>
          <a:prstGeom prst="rect">
            <a:avLst/>
          </a:prstGeom>
          <a:noFill/>
        </p:spPr>
        <p:txBody>
          <a:bodyPr wrap="square" lIns="0" rIns="0" tIns="0" bIns="0">
            <a:spAutoFit/>
          </a:bodyPr>
          <a:lstStyle/>
          <a:p>
            <a:pPr algn="l">
              <a:lnSpc>
                <a:spcPct val="120000"/>
              </a:lnSpc>
              <a:spcAft>
                <a:spcPts val="600"/>
              </a:spcAft>
            </a:pPr>
            <a:r>
              <a:rPr sz="1400" b="0">
                <a:solidFill>
                  <a:srgbClr val="55504A"/>
                </a:solidFill>
                <a:latin typeface="Arial"/>
              </a:rPr>
              <a:t>npm audit vulnerabilities</a:t>
            </a:r>
          </a:p>
        </p:txBody>
      </p:sp>
      <p:sp>
        <p:nvSpPr>
          <p:cNvPr id="14" name="Rectangle 13"/>
          <p:cNvSpPr/>
          <p:nvPr/>
        </p:nvSpPr>
        <p:spPr>
          <a:xfrm>
            <a:off x="6492240" y="2194560"/>
            <a:ext cx="5029200" cy="1371600"/>
          </a:xfrm>
          <a:prstGeom prst="rect">
            <a:avLst/>
          </a:prstGeom>
          <a:solidFill>
            <a:srgbClr val="F2EEE6"/>
          </a:solidFill>
          <a:ln w="15875">
            <a:solidFill>
              <a:srgbClr val="22201E"/>
            </a:solidFill>
          </a:ln>
          <a:effectLst/>
        </p:spPr>
        <p:style>
          <a:lnRef idx="1">
            <a:schemeClr val="accent1"/>
          </a:lnRef>
          <a:fillRef idx="3">
            <a:schemeClr val="accent1"/>
          </a:fillRef>
          <a:effectRef idx="2">
            <a:schemeClr val="accent1"/>
          </a:effectRef>
          <a:fontRef idx="minor">
            <a:schemeClr val="lt1"/>
          </a:fontRef>
        </p:style>
        <p:txBody>
          <a:bodyPr rtlCol="0" anchor="ctr" lIns="201168" rIns="201168" tIns="146304" bIns="146304" wrap="none"/>
          <a:lstStyle/>
          <a:p>
            <a:pPr algn="ctr">
              <a:lnSpc>
                <a:spcPct val="140000"/>
              </a:lnSpc>
            </a:pPr>
            <a:r>
              <a:rPr sz="1300" b="0">
                <a:solidFill>
                  <a:srgbClr val="55504A"/>
                </a:solidFill>
                <a:latin typeface="Consolas"/>
              </a:rPr>
              <a:t>npm run test       </a:t>
            </a:r>
            <a:r>
              <a:rPr sz="1300" b="0">
                <a:solidFill>
                  <a:srgbClr val="837C73"/>
                </a:solidFill>
                <a:latin typeface="Consolas"/>
              </a:rPr>
              <a:t># concurrency + lottery</a:t>
            </a:r>
          </a:p>
          <a:p>
            <a:pPr>
              <a:lnSpc>
                <a:spcPct val="140000"/>
              </a:lnSpc>
            </a:pPr>
            <a:r>
              <a:rPr sz="1300" b="0">
                <a:solidFill>
                  <a:srgbClr val="55504A"/>
                </a:solidFill>
                <a:latin typeface="Consolas"/>
              </a:rPr>
              <a:t>npm run invariant  </a:t>
            </a:r>
            <a:r>
              <a:rPr sz="1300" b="0">
                <a:solidFill>
                  <a:srgbClr val="837C73"/>
                </a:solidFill>
                <a:latin typeface="Consolas"/>
              </a:rPr>
              <a:t># whole-table sweep</a:t>
            </a:r>
          </a:p>
          <a:p>
            <a:pPr>
              <a:lnSpc>
                <a:spcPct val="140000"/>
              </a:lnSpc>
            </a:pPr>
            <a:r>
              <a:rPr sz="1300" b="0">
                <a:solidFill>
                  <a:srgbClr val="55504A"/>
                </a:solidFill>
                <a:latin typeface="Consolas"/>
              </a:rPr>
              <a:t>npm run e2e        </a:t>
            </a:r>
            <a:r>
              <a:rPr sz="1300" b="0">
                <a:solidFill>
                  <a:srgbClr val="837C73"/>
                </a:solidFill>
                <a:latin typeface="Consolas"/>
              </a:rPr>
              <a:t># 11 browser checks</a:t>
            </a:r>
          </a:p>
        </p:txBody>
      </p:sp>
      <p:sp>
        <p:nvSpPr>
          <p:cNvPr id="15" name="TextBox 14"/>
          <p:cNvSpPr txBox="1"/>
          <p:nvPr/>
        </p:nvSpPr>
        <p:spPr>
          <a:xfrm>
            <a:off x="6492240" y="3840480"/>
            <a:ext cx="5029200" cy="1280160"/>
          </a:xfrm>
          <a:prstGeom prst="rect">
            <a:avLst/>
          </a:prstGeom>
          <a:noFill/>
        </p:spPr>
        <p:txBody>
          <a:bodyPr wrap="square" lIns="0" rIns="0" tIns="0" bIns="0">
            <a:spAutoFit/>
          </a:bodyPr>
          <a:lstStyle/>
          <a:p>
            <a:pPr algn="l">
              <a:lnSpc>
                <a:spcPct val="140000"/>
              </a:lnSpc>
              <a:spcAft>
                <a:spcPts val="600"/>
              </a:spcAft>
            </a:pPr>
            <a:r>
              <a:rPr sz="1500" b="0">
                <a:solidFill>
                  <a:srgbClr val="55504A"/>
                </a:solidFill>
                <a:latin typeface="Arial"/>
              </a:rPr>
              <a:t>The overlap count is never a check of the slot just tested — it is </a:t>
            </a:r>
            <a:r>
              <a:rPr sz="1500" b="1">
                <a:solidFill>
                  <a:srgbClr val="22201E"/>
                </a:solidFill>
                <a:latin typeface="Arial"/>
              </a:rPr>
              <a:t>every confirmed row against every other row</a:t>
            </a:r>
            <a:r>
              <a:rPr sz="1500" b="0">
                <a:solidFill>
                  <a:srgbClr val="55504A"/>
                </a:solidFill>
                <a:latin typeface="Arial"/>
              </a:rPr>
              <a:t> on the same court, run after every race.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74320"/>
          </a:xfrm>
          <a:prstGeom prst="rect">
            <a:avLst/>
          </a:prstGeom>
          <a:noFill/>
        </p:spPr>
        <p:txBody>
          <a:bodyPr wrap="square" lIns="0" rIns="0" tIns="0" bIns="0">
            <a:spAutoFit/>
          </a:bodyPr>
          <a:lstStyle/>
          <a:p>
            <a:pPr algn="l">
              <a:lnSpc>
                <a:spcPct val="125000"/>
              </a:lnSpc>
              <a:spcAft>
                <a:spcPts val="600"/>
              </a:spcAft>
            </a:pPr>
            <a:r>
              <a:rPr sz="1200" b="1">
                <a:solidFill>
                  <a:srgbClr val="B4512A"/>
                </a:solidFill>
                <a:latin typeface="Arial"/>
              </a:rPr>
              <a:t>STATED PLAINLY</a:t>
            </a:r>
          </a:p>
        </p:txBody>
      </p:sp>
      <p:sp>
        <p:nvSpPr>
          <p:cNvPr id="4" name="TextBox 3"/>
          <p:cNvSpPr txBox="1"/>
          <p:nvPr/>
        </p:nvSpPr>
        <p:spPr>
          <a:xfrm>
            <a:off x="658368" y="786384"/>
            <a:ext cx="10874959" cy="914400"/>
          </a:xfrm>
          <a:prstGeom prst="rect">
            <a:avLst/>
          </a:prstGeom>
          <a:noFill/>
        </p:spPr>
        <p:txBody>
          <a:bodyPr wrap="square" lIns="0" rIns="0" tIns="0" bIns="0">
            <a:spAutoFit/>
          </a:bodyPr>
          <a:lstStyle/>
          <a:p>
            <a:pPr algn="l">
              <a:lnSpc>
                <a:spcPct val="102000"/>
              </a:lnSpc>
              <a:spcAft>
                <a:spcPts val="600"/>
              </a:spcAft>
            </a:pPr>
            <a:r>
              <a:rPr sz="3400" b="1">
                <a:solidFill>
                  <a:srgbClr val="22201E"/>
                </a:solidFill>
                <a:latin typeface="Georgia"/>
              </a:rPr>
              <a:t>WHAT IS DELIBERATELY OUT OF SCOPE</a:t>
            </a:r>
          </a:p>
        </p:txBody>
      </p:sp>
      <p:sp>
        <p:nvSpPr>
          <p:cNvPr id="5" name="Rectangle 4"/>
          <p:cNvSpPr/>
          <p:nvPr/>
        </p:nvSpPr>
        <p:spPr>
          <a:xfrm>
            <a:off x="658368" y="1572768"/>
            <a:ext cx="822960" cy="38100"/>
          </a:xfrm>
          <a:prstGeom prst="rect">
            <a:avLst/>
          </a:prstGeom>
          <a:solidFill>
            <a:srgbClr val="C29A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291072"/>
            <a:ext cx="10326319" cy="274320"/>
          </a:xfrm>
          <a:prstGeom prst="rect">
            <a:avLst/>
          </a:prstGeom>
          <a:noFill/>
        </p:spPr>
        <p:txBody>
          <a:bodyPr wrap="square" lIns="0" rIns="0" tIns="0" bIns="0">
            <a:spAutoFit/>
          </a:bodyPr>
          <a:lstStyle/>
          <a:p>
            <a:pPr algn="l">
              <a:lnSpc>
                <a:spcPct val="125000"/>
              </a:lnSpc>
              <a:spcAft>
                <a:spcPts val="600"/>
              </a:spcAft>
            </a:pPr>
            <a:r>
              <a:rPr sz="1000" b="0">
                <a:solidFill>
                  <a:srgbClr val="837C73"/>
                </a:solidFill>
                <a:latin typeface="Arial"/>
              </a:rPr>
              <a:t>PLAYHACK · TEAM INNOVAIT</a:t>
            </a:r>
          </a:p>
        </p:txBody>
      </p:sp>
      <p:sp>
        <p:nvSpPr>
          <p:cNvPr id="7" name="TextBox 6"/>
          <p:cNvSpPr txBox="1"/>
          <p:nvPr/>
        </p:nvSpPr>
        <p:spPr>
          <a:xfrm>
            <a:off x="10984687" y="6291072"/>
            <a:ext cx="548640" cy="274320"/>
          </a:xfrm>
          <a:prstGeom prst="rect">
            <a:avLst/>
          </a:prstGeom>
          <a:noFill/>
        </p:spPr>
        <p:txBody>
          <a:bodyPr wrap="square" lIns="0" rIns="0" tIns="0" bIns="0">
            <a:spAutoFit/>
          </a:bodyPr>
          <a:lstStyle/>
          <a:p>
            <a:pPr algn="r">
              <a:lnSpc>
                <a:spcPct val="125000"/>
              </a:lnSpc>
              <a:spcAft>
                <a:spcPts val="600"/>
              </a:spcAft>
            </a:pPr>
            <a:r>
              <a:rPr sz="1000" b="0">
                <a:solidFill>
                  <a:srgbClr val="837C73"/>
                </a:solidFill>
                <a:latin typeface="Arial"/>
              </a:rPr>
              <a:t>15</a:t>
            </a:r>
          </a:p>
        </p:txBody>
      </p:sp>
      <p:sp>
        <p:nvSpPr>
          <p:cNvPr id="8" name="TextBox 7"/>
          <p:cNvSpPr txBox="1"/>
          <p:nvPr/>
        </p:nvSpPr>
        <p:spPr>
          <a:xfrm>
            <a:off x="658368" y="2148840"/>
            <a:ext cx="10874959" cy="914400"/>
          </a:xfrm>
          <a:prstGeom prst="rect">
            <a:avLst/>
          </a:prstGeom>
          <a:noFill/>
        </p:spPr>
        <p:txBody>
          <a:bodyPr wrap="square" lIns="0" rIns="0" tIns="0" bIns="0">
            <a:spAutoFit/>
          </a:bodyPr>
          <a:lstStyle/>
          <a:p>
            <a:pPr algn="l">
              <a:lnSpc>
                <a:spcPct val="135000"/>
              </a:lnSpc>
              <a:spcAft>
                <a:spcPts val="600"/>
              </a:spcAft>
            </a:pPr>
            <a:r>
              <a:rPr sz="1600" b="1">
                <a:solidFill>
                  <a:srgbClr val="22201E"/>
                </a:solidFill>
                <a:latin typeface="Arial"/>
              </a:rPr>
              <a:t>No passwords.</a:t>
            </a:r>
            <a:r>
              <a:rPr sz="1600" b="0">
                <a:solidFill>
                  <a:srgbClr val="55504A"/>
                </a:solidFill>
                <a:latin typeface="Arial"/>
              </a:rPr>
              <a:t> Identity is a signed cookie over a seeded roster with a switch-reader control, so a judge can race two students without two browser profiles. Swapping in SSO replaces one function.</a:t>
            </a:r>
          </a:p>
        </p:txBody>
      </p:sp>
      <p:sp>
        <p:nvSpPr>
          <p:cNvPr id="9" name="TextBox 8"/>
          <p:cNvSpPr txBox="1"/>
          <p:nvPr/>
        </p:nvSpPr>
        <p:spPr>
          <a:xfrm>
            <a:off x="658368" y="3172968"/>
            <a:ext cx="10874959" cy="914400"/>
          </a:xfrm>
          <a:prstGeom prst="rect">
            <a:avLst/>
          </a:prstGeom>
          <a:noFill/>
        </p:spPr>
        <p:txBody>
          <a:bodyPr wrap="square" lIns="0" rIns="0" tIns="0" bIns="0">
            <a:spAutoFit/>
          </a:bodyPr>
          <a:lstStyle/>
          <a:p>
            <a:pPr algn="l">
              <a:lnSpc>
                <a:spcPct val="135000"/>
              </a:lnSpc>
              <a:spcAft>
                <a:spcPts val="600"/>
              </a:spcAft>
            </a:pPr>
            <a:r>
              <a:rPr sz="1600" b="1">
                <a:solidFill>
                  <a:srgbClr val="22201E"/>
                </a:solidFill>
                <a:latin typeface="Arial"/>
              </a:rPr>
              <a:t>The demo endpoints are unauthenticated</a:t>
            </a:r>
            <a:r>
              <a:rPr sz="1600" b="0">
                <a:solidFill>
                  <a:srgbClr val="55504A"/>
                </a:solidFill>
                <a:latin typeface="Arial"/>
              </a:rPr>
              <a:t> and rate limited rather than gated, because the race demo has to stay one click away.</a:t>
            </a:r>
          </a:p>
        </p:txBody>
      </p:sp>
      <p:sp>
        <p:nvSpPr>
          <p:cNvPr id="10" name="TextBox 9"/>
          <p:cNvSpPr txBox="1"/>
          <p:nvPr/>
        </p:nvSpPr>
        <p:spPr>
          <a:xfrm>
            <a:off x="658368" y="4197096"/>
            <a:ext cx="10874959" cy="914400"/>
          </a:xfrm>
          <a:prstGeom prst="rect">
            <a:avLst/>
          </a:prstGeom>
          <a:noFill/>
        </p:spPr>
        <p:txBody>
          <a:bodyPr wrap="square" lIns="0" rIns="0" tIns="0" bIns="0">
            <a:spAutoFit/>
          </a:bodyPr>
          <a:lstStyle/>
          <a:p>
            <a:pPr algn="l">
              <a:lnSpc>
                <a:spcPct val="135000"/>
              </a:lnSpc>
              <a:spcAft>
                <a:spcPts val="600"/>
              </a:spcAft>
            </a:pPr>
            <a:r>
              <a:rPr sz="1600" b="1">
                <a:solidFill>
                  <a:srgbClr val="22201E"/>
                </a:solidFill>
                <a:latin typeface="Arial"/>
              </a:rPr>
              <a:t>What is enforced:</a:t>
            </a:r>
            <a:r>
              <a:rPr sz="1600" b="0">
                <a:solidFill>
                  <a:srgbClr val="55504A"/>
                </a:solidFill>
                <a:latin typeface="Arial"/>
              </a:rPr>
              <a:t> ownership scoped inside every UPDATE, zod on every request body, bind parameters on every query, no sql.unsafe anywhere.</a:t>
            </a:r>
          </a:p>
        </p:txBody>
      </p:sp>
      <p:sp>
        <p:nvSpPr>
          <p:cNvPr id="11" name="TextBox 10"/>
          <p:cNvSpPr txBox="1"/>
          <p:nvPr/>
        </p:nvSpPr>
        <p:spPr>
          <a:xfrm>
            <a:off x="658368" y="5221224"/>
            <a:ext cx="10874959" cy="914400"/>
          </a:xfrm>
          <a:prstGeom prst="rect">
            <a:avLst/>
          </a:prstGeom>
          <a:noFill/>
        </p:spPr>
        <p:txBody>
          <a:bodyPr wrap="square" lIns="0" rIns="0" tIns="0" bIns="0">
            <a:spAutoFit/>
          </a:bodyPr>
          <a:lstStyle/>
          <a:p>
            <a:pPr algn="l">
              <a:lnSpc>
                <a:spcPct val="135000"/>
              </a:lnSpc>
              <a:spcAft>
                <a:spcPts val="600"/>
              </a:spcAft>
            </a:pPr>
            <a:r>
              <a:rPr sz="1600" b="1">
                <a:solidFill>
                  <a:srgbClr val="22201E"/>
                </a:solidFill>
                <a:latin typeface="Arial"/>
              </a:rPr>
              <a:t>Next:</a:t>
            </a:r>
            <a:r>
              <a:rPr sz="1600" b="0">
                <a:solidFill>
                  <a:srgbClr val="55504A"/>
                </a:solidFill>
                <a:latin typeface="Arial"/>
              </a:rPr>
              <a:t> institute SSO, push notifications for waitlist offers, and a rate limiter keyed on identity rather than on a header the client controls.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2103120"/>
            <a:ext cx="10874959" cy="274320"/>
          </a:xfrm>
          <a:prstGeom prst="rect">
            <a:avLst/>
          </a:prstGeom>
          <a:noFill/>
        </p:spPr>
        <p:txBody>
          <a:bodyPr wrap="square" lIns="0" rIns="0" tIns="0" bIns="0">
            <a:spAutoFit/>
          </a:bodyPr>
          <a:lstStyle/>
          <a:p>
            <a:pPr algn="ctr">
              <a:lnSpc>
                <a:spcPct val="125000"/>
              </a:lnSpc>
              <a:spcAft>
                <a:spcPts val="600"/>
              </a:spcAft>
            </a:pPr>
            <a:r>
              <a:rPr sz="1400" b="1">
                <a:solidFill>
                  <a:srgbClr val="B4512A"/>
                </a:solidFill>
                <a:latin typeface="Arial"/>
              </a:rPr>
              <a:t>ONE PLATFORM. ZERO CLASHES.</a:t>
            </a:r>
          </a:p>
        </p:txBody>
      </p:sp>
      <p:sp>
        <p:nvSpPr>
          <p:cNvPr id="4" name="TextBox 3"/>
          <p:cNvSpPr txBox="1"/>
          <p:nvPr/>
        </p:nvSpPr>
        <p:spPr>
          <a:xfrm>
            <a:off x="658368" y="2606040"/>
            <a:ext cx="10874959" cy="1463040"/>
          </a:xfrm>
          <a:prstGeom prst="rect">
            <a:avLst/>
          </a:prstGeom>
          <a:noFill/>
        </p:spPr>
        <p:txBody>
          <a:bodyPr wrap="square" lIns="0" rIns="0" tIns="0" bIns="0">
            <a:spAutoFit/>
          </a:bodyPr>
          <a:lstStyle/>
          <a:p>
            <a:pPr algn="ctr">
              <a:lnSpc>
                <a:spcPct val="105000"/>
              </a:lnSpc>
              <a:spcAft>
                <a:spcPts val="600"/>
              </a:spcAft>
            </a:pPr>
            <a:r>
              <a:rPr sz="4600" b="1">
                <a:solidFill>
                  <a:srgbClr val="22201E"/>
                </a:solidFill>
                <a:latin typeface="Georgia"/>
              </a:rPr>
              <a:t>Fifty students. One court.
One winner.</a:t>
            </a:r>
          </a:p>
        </p:txBody>
      </p:sp>
      <p:sp>
        <p:nvSpPr>
          <p:cNvPr id="5" name="Rectangle 4"/>
          <p:cNvSpPr/>
          <p:nvPr/>
        </p:nvSpPr>
        <p:spPr>
          <a:xfrm>
            <a:off x="5684367" y="4224528"/>
            <a:ext cx="822960" cy="38100"/>
          </a:xfrm>
          <a:prstGeom prst="rect">
            <a:avLst/>
          </a:prstGeom>
          <a:solidFill>
            <a:srgbClr val="C29A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4526280"/>
            <a:ext cx="10874959" cy="822960"/>
          </a:xfrm>
          <a:prstGeom prst="rect">
            <a:avLst/>
          </a:prstGeom>
          <a:noFill/>
        </p:spPr>
        <p:txBody>
          <a:bodyPr wrap="square" lIns="0" rIns="0" tIns="0" bIns="0">
            <a:spAutoFit/>
          </a:bodyPr>
          <a:lstStyle/>
          <a:p>
            <a:pPr algn="ctr">
              <a:lnSpc>
                <a:spcPct val="140000"/>
              </a:lnSpc>
              <a:spcAft>
                <a:spcPts val="600"/>
              </a:spcAft>
            </a:pPr>
            <a:r>
              <a:rPr sz="1700" b="0">
                <a:solidFill>
                  <a:srgbClr val="55504A"/>
                </a:solidFill>
                <a:latin typeface="Arial"/>
              </a:rPr>
              <a:t>Run the race yourself — the burst is fired at a real Postgres table through a real HTTP endpoint, and the whole table is swept afterwards.</a:t>
            </a:r>
          </a:p>
        </p:txBody>
      </p:sp>
      <p:sp>
        <p:nvSpPr>
          <p:cNvPr id="7" name="TextBox 6"/>
          <p:cNvSpPr txBox="1"/>
          <p:nvPr/>
        </p:nvSpPr>
        <p:spPr>
          <a:xfrm>
            <a:off x="658368" y="5440680"/>
            <a:ext cx="10874959" cy="457200"/>
          </a:xfrm>
          <a:prstGeom prst="rect">
            <a:avLst/>
          </a:prstGeom>
          <a:noFill/>
        </p:spPr>
        <p:txBody>
          <a:bodyPr wrap="square" lIns="0" rIns="0" tIns="0" bIns="0">
            <a:spAutoFit/>
          </a:bodyPr>
          <a:lstStyle/>
          <a:p>
            <a:pPr algn="ctr">
              <a:lnSpc>
                <a:spcPct val="125000"/>
              </a:lnSpc>
              <a:spcAft>
                <a:spcPts val="600"/>
              </a:spcAft>
            </a:pPr>
            <a:r>
              <a:rPr sz="2400" b="1">
                <a:solidFill>
                  <a:srgbClr val="B4512A"/>
                </a:solidFill>
                <a:latin typeface="Consolas"/>
              </a:rPr>
              <a:t>innovait-hackathon.vercel.app/race</a:t>
            </a:r>
          </a:p>
        </p:txBody>
      </p:sp>
      <p:sp>
        <p:nvSpPr>
          <p:cNvPr id="8" name="TextBox 7"/>
          <p:cNvSpPr txBox="1"/>
          <p:nvPr/>
        </p:nvSpPr>
        <p:spPr>
          <a:xfrm>
            <a:off x="658368" y="5989320"/>
            <a:ext cx="10874959" cy="274320"/>
          </a:xfrm>
          <a:prstGeom prst="rect">
            <a:avLst/>
          </a:prstGeom>
          <a:noFill/>
        </p:spPr>
        <p:txBody>
          <a:bodyPr wrap="square" lIns="0" rIns="0" tIns="0" bIns="0">
            <a:spAutoFit/>
          </a:bodyPr>
          <a:lstStyle/>
          <a:p>
            <a:pPr algn="ctr">
              <a:lnSpc>
                <a:spcPct val="125000"/>
              </a:lnSpc>
              <a:spcAft>
                <a:spcPts val="600"/>
              </a:spcAft>
            </a:pPr>
            <a:r>
              <a:rPr sz="1200" b="0">
                <a:solidFill>
                  <a:srgbClr val="837C73"/>
                </a:solidFill>
                <a:latin typeface="Arial"/>
              </a:rPr>
              <a:t>TEAM INNOVAIT · PLAYHACK SDE TRACK</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